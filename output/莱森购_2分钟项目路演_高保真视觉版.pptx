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aster1"/>
  </p:sldMasterIdLst>
  <p:notesMasterIdLst>
    <p:notesMasterId r:id="rIdNotesMaster1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 type="custom"/>
  <p:notesSz cx="6858000" cy="12192000"/>
</p:presentation>
</file>

<file path=ppt/presProps.xml><?xml version="1.0" encoding="utf-8"?>
<p:presProps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ops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NotesMaster1" Type="http://schemas.openxmlformats.org/officeDocument/2006/relationships/notesMaster" Target="notesMasters/notesMaster1.xml"/>
  <Relationship Id="rIdTheme1" Type="http://schemas.openxmlformats.org/officeDocument/2006/relationships/theme" Target="theme/theme1.xml"/>
  <Relationship Id="rIdPresProps" Type="http://schemas.openxmlformats.org/officeDocument/2006/relationships/presProps" Target="presProps.xml"/>
  <Relationship Id="rIdViewProps" Type="http://schemas.openxmlformats.org/officeDocument/2006/relationships/viewProps" Target="viewProps.xml"/>
  <Relationship Id="rIdTableStyles" Type="http://schemas.openxmlformats.org/officeDocument/2006/relationships/tableStyles" Target="tableStyles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</Relationships>
</file>

<file path=ppt/notesMasters/_rels/notesMaster1.xml.rels><?xml version="1.0" encoding="UTF-8" standalone="yes"?>
<Relationships xmlns="http://schemas.openxmlformats.org/package/2006/relationships">
  <Relationship Id="rIdTheme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Slide1" Type="http://schemas.openxmlformats.org/officeDocument/2006/relationships/slide" Target="../slides/slide1.xml"/>
  <Relationship Id="rIdNotesMaster1" Type="http://schemas.openxmlformats.org/officeDocument/2006/relationships/notesMaster" Target="../notesMasters/notesMaster1.xml"/>
</Relationships>
</file>

<file path=ppt/notesSlides/_rels/notesSlide2.xml.rels><?xml version="1.0" encoding="UTF-8" standalone="yes"?>
<Relationships xmlns="http://schemas.openxmlformats.org/package/2006/relationships">
  <Relationship Id="rIdSlide2" Type="http://schemas.openxmlformats.org/officeDocument/2006/relationships/slide" Target="../slides/slide2.xml"/>
  <Relationship Id="rIdNotesMaster1" Type="http://schemas.openxmlformats.org/officeDocument/2006/relationships/notesMaster" Target="../notesMasters/notesMaster1.xml"/>
</Relationships>
</file>

<file path=ppt/notesSlides/_rels/notesSlide3.xml.rels><?xml version="1.0" encoding="UTF-8" standalone="yes"?>
<Relationships xmlns="http://schemas.openxmlformats.org/package/2006/relationships">
  <Relationship Id="rIdSlide3" Type="http://schemas.openxmlformats.org/officeDocument/2006/relationships/slide" Target="../slides/slide3.xml"/>
  <Relationship Id="rIdNotesMaster1" Type="http://schemas.openxmlformats.org/officeDocument/2006/relationships/notesMaster" Target="../notesMasters/notesMaster1.xml"/>
</Relationships>
</file>

<file path=ppt/notesSlides/_rels/notesSlide4.xml.rels><?xml version="1.0" encoding="UTF-8" standalone="yes"?>
<Relationships xmlns="http://schemas.openxmlformats.org/package/2006/relationships">
  <Relationship Id="rIdSlide4" Type="http://schemas.openxmlformats.org/officeDocument/2006/relationships/slide" Target="../slides/slide4.xml"/>
  <Relationship Id="rIdNotesMaster1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  <Relationship Id="rIdSlide5" Type="http://schemas.openxmlformats.org/officeDocument/2006/relationships/slide" Target="../slides/slide5.xml"/>
  <Relationship Id="rIdNotesMaster1" Type="http://schemas.openxmlformats.org/officeDocument/2006/relationships/notesMaster" Target="../notesMasters/notesMaster1.xml"/>
</Relationships>
</file>

<file path=ppt/notesSlides/_rels/notesSlide6.xml.rels><?xml version="1.0" encoding="UTF-8" standalone="yes"?>
<Relationships xmlns="http://schemas.openxmlformats.org/package/2006/relationships">
  <Relationship Id="rIdSlide6" Type="http://schemas.openxmlformats.org/officeDocument/2006/relationships/slide" Target="../slides/slide6.xml"/>
  <Relationship Id="rIdNotesMaster1" Type="http://schemas.openxmlformats.org/officeDocument/2006/relationships/notesMaster" Target="../notesMasters/notesMaster1.xml"/>
</Relationships>
</file>

<file path=ppt/notesSlides/_rels/notesSlide7.xml.rels><?xml version="1.0" encoding="UTF-8" standalone="yes"?>
<Relationships xmlns="http://schemas.openxmlformats.org/package/2006/relationships">
  <Relationship Id="rIdSlide7" Type="http://schemas.openxmlformats.org/officeDocument/2006/relationships/slide" Target="../slides/slide7.xml"/>
  <Relationship Id="rIdNotesMaster1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【P1｜封面与中心主旨｜00:00 - 00:12（12秒）】
各位评委老师好！今天用两分钟为您汇报《莱森购 Retail Intelligence Agent——无人零售经营智能决策平台》。
我们的中心主旨只有一句话：把门店大盘、规则审计、同城对标、区域选址、Agent 顾问、主动监控与任务复核融进同一条契约闭环，回答“关注谁、差在哪且证据是什么、现在做什么何时复核”三大问题，让无人零售经营从“看报表猜原因”进化到“给证据、派动作、验结果”！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【P2｜应用场景与三大现实痛点｜00:12 - 00:30（18秒）】
在无人零售高密度运营中，区域经理每天都在面对五大高频场景：全域风险巡检、异常门店同城对标、新商区选址测算、设备离线抢修与整改复核。
但现实中存在三大致命痛点：
第一，传统 BI 只给图表不给归因，平均值掩盖斜坡下滑，甚至把 S004 退款字段断报误判为 0 异常（致命假阴性）；
第二，通用大模型自由写 SQL 极易算错比率（平均每日比率）、在样本不足时强行编造幻觉数字；
第三，分析与执行割裂，聊完即止，没人盯设备心跳、更没有下一周期的复核闭环。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【P3｜与传统方案的本质不同｜00:30 - 00:50（20秒）】
莱森购与传统方案的本质不同，可以用“餐厅后厨”架构隐喻来概括：
我们绝不让大模型进后厨自己炒菜算账，而是由冻结的 API Contract v0.1 与确定性领域服务担任“后厨”，大模型只做“服务员”，在 7 个白名单工具内做意图编排与证据解读。
叠加四值防呆熔断、双向数值核验、KV Cache 六大铁律以及主动监控引擎，实现了五大维度的代际跨越！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【P4｜核心重点（一）：五位一体工作台 + 确定性数据与 Wiki 底座｜00:50 - 01:10（20秒）】
下面看最核心的三大技术模块。首先是前端五合一工作台与确定性数据底座：
前端将驾驶舱、审计对标、区域选址、行动中心与“莱财”AI顾问及检测台融为一体；
后端数据层不仅锁定了先聚合后算比率、订单×客单价双因子拆解、按门店中位数测算区域 ROI，还独创了“两层逐指标可比准入”与“四值规则状态机”（unavailable -&gt; insufficient -&gt; possible -&gt; none）——例如 S004 退款断报时自动触发 unavailable 熔断，同时保留其完整销售数据参与同区对标；
配合 Supabase 4张核心表与结构化 knowledge_wiki，支持内存夹具、Python 离线与云端数据库三路径无缝切换！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【P5｜核心重点（二）：LangGraph 七层编排 + KV Cache &amp; 三层记忆 + 双向护栏｜01:10 - 01:30（20秒）】
第二大核心重点是 C 端的 LangGraph 七层智能体架构与高性能上下文工程：
我们将智能体解耦为定义、模式、组件、机制、安全、编排、工程七层，组装了包含单次有界重规划（Bounded Re-plan）的 7 节点状态机；
同时严格落地《上下文与 KV Cache 约束》六大铁律（静态前缀 deepFreeze、Append-Only、SHA-256 哈希持久化摘要压缩）与三层记忆体系，支持像“那帮它创建整改任务”这样的跨轮次指代消解；
再配合输入越权拦截与输出 collectAllowedNumbers 数值白名单核验，实现了 100% 零数值幻觉与全业务脱敏表达！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【P6｜核心重点（三）：人机协同任务复核 + IoT 主动监控双闭环｜01:30 - 01:48（18秒）】
第三大核心重点是我们的“双闭环落地引擎”：
左边是人机协同经营行动闭环，Agent 生成带同行证据与预期收益的 decisionProposal 审批卡，人工确认后幂等建单，经历 open -&gt; assigned -&gt; investigating -&gt; verifying -&gt; closed/escalated 状态流转，并在下一周期根据复核指标自动关闭或升级；
右边是独立运行的 IoT 主动监控 Loop，2 分钟心跳超时自动检测去重、5 分钟通知负责人（站内+Webhook+QQ邮箱SSL）并自动唤醒 Agent 异步审计、15 分钟未确认自动升级，真正做到无人值守也有据可查！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【P7｜未来扩展愿景：三阶段演进蓝图｜01:48 - 02:00（12秒）】
最后来看未来扩展愿景。我们将分三步演进：
第一阶段落地生产级 OIDC 多租户 RLS 权限隔离，打通真实 IoT 边缘网关与 ERP 实时数仓；
第二阶段横向扩展库存、会员、排班人效与边缘多模态视觉识别，实现缺货与陈列自动巡检；
第三阶段全面激活 Supabase 预留的 pgvector 1536 维向量列，用每次任务复核的真实改善率反哺风险权重，演进为自进化的多 Agent 无人零售经营大脑。谢谢各位老师！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1" Type="http://schemas.openxmlformats.org/officeDocument/2006/relationships/notesSlide" Target="../notesSlides/notesSlide1.xml"/>
  <Relationship Id="rIdFullSlide1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2" Type="http://schemas.openxmlformats.org/officeDocument/2006/relationships/notesSlide" Target="../notesSlides/notesSlide2.xml"/>
  <Relationship Id="rIdFullSlide2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3" Type="http://schemas.openxmlformats.org/officeDocument/2006/relationships/notesSlide" Target="../notesSlides/notesSlide3.xml"/>
  <Relationship Id="rIdFullSlide3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4" Type="http://schemas.openxmlformats.org/officeDocument/2006/relationships/notesSlide" Target="../notesSlides/notesSlide4.xml"/>
  <Relationship Id="rIdFullSlide4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5" Type="http://schemas.openxmlformats.org/officeDocument/2006/relationships/notesSlide" Target="../notesSlides/notesSlide5.xml"/>
  <Relationship Id="rIdFullSlide5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6" Type="http://schemas.openxmlformats.org/officeDocument/2006/relationships/notesSlide" Target="../notesSlides/notesSlide6.xml"/>
  <Relationship Id="rIdFullSlide6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7" Type="http://schemas.openxmlformats.org/officeDocument/2006/relationships/notesSlide" Target="../notesSlides/notesSlide7.xml"/>
  <Relationship Id="rIdFullSlide7" Type="http://schemas.openxmlformats.org/officeDocument/2006/relationships/image" Target="../media/image7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aisenTheme">
  <a:themeElements>
    <a:clrScheme name="LaisenColors">
      <a:dk1>
        <a:srgbClr val="142030"/>
      </a:dk1>
      <a:lt1>
        <a:srgbClr val="FFFFFF"/>
      </a:lt1>
      <a:dk2>
        <a:srgbClr val="1E3A5F"/>
      </a:dk2>
      <a:lt2>
        <a:srgbClr val="F6F3EC"/>
      </a:lt2>
      <a:accent1>
        <a:srgbClr val="1E3A5F"/>
      </a:accent1>
      <a:accent2>
        <a:srgbClr val="C84B31"/>
      </a:accent2>
      <a:accent3>
        <a:srgbClr val="1F6F54"/>
      </a:accent3>
      <a:accent4>
        <a:srgbClr val="D97706"/>
      </a:accent4>
      <a:accent5>
        <a:srgbClr val="5B4B8A"/>
      </a:accent5>
      <a:accent6>
        <a:srgbClr val="3E4E63"/>
      </a:accent6>
      <a:hlink>
        <a:srgbClr val="1E3A5F"/>
      </a:hlink>
      <a:folHlink>
        <a:srgbClr val="1E3A5F"/>
      </a:folHlink>
    </a:clrScheme>
    <a:fontScheme name="LaisenFonts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Laisen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