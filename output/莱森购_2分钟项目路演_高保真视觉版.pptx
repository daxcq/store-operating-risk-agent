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1"/>
  </p:sldMasterIdLst>
  <p:notesMasterIdLst>
    <p:notesMasterId r:id="rIdNotesMaster1"/>
  </p:notesMasterIdLst>
  <p:sldIdLst>
    <p:sldId id="256" r:id="rIdSlide1"/>
    <p:sldId id="257" r:id="rIdSlide2"/>
    <p:sldId id="258" r:id="rIdSlide3"/>
    <p:sldId id="259" r:id="rIdSlide4"/>
    <p:sldId id="260" r:id="rIdSlide5"/>
    <p:sldId id="261" r:id="rIdSlide6"/>
  </p:sldIdLst>
  <p:sldSz cx="12192000" cy="6858000" type="custom"/>
  <p:notesSz cx="6858000" cy="12192000"/>
</p:presentation>
</file>

<file path=ppt/presProps.xml><?xml version="1.0" encoding="utf-8"?>
<p:presProps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ops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Master1" Type="http://schemas.openxmlformats.org/officeDocument/2006/relationships/slideMaster" Target="slideMasters/slideMaster1.xml"/>
  <Relationship Id="rIdNotesMaster1" Type="http://schemas.openxmlformats.org/officeDocument/2006/relationships/notesMaster" Target="notesMasters/notesMaster1.xml"/>
  <Relationship Id="rIdTheme1" Type="http://schemas.openxmlformats.org/officeDocument/2006/relationships/theme" Target="theme/theme1.xml"/>
  <Relationship Id="rIdPresProps" Type="http://schemas.openxmlformats.org/officeDocument/2006/relationships/presProps" Target="presProps.xml"/>
  <Relationship Id="rIdViewProps" Type="http://schemas.openxmlformats.org/officeDocument/2006/relationships/viewProps" Target="viewProps.xml"/>
  <Relationship Id="rIdTableStyles" Type="http://schemas.openxmlformats.org/officeDocument/2006/relationships/tableStyles" Target="tableStyles.xml"/>
  <Relationship Id="rIdSlide1" Type="http://schemas.openxmlformats.org/officeDocument/2006/relationships/slide" Target="slides/slide1.xml"/>
  <Relationship Id="rIdSlide2" Type="http://schemas.openxmlformats.org/officeDocument/2006/relationships/slide" Target="slides/slide2.xml"/>
  <Relationship Id="rIdSlide3" Type="http://schemas.openxmlformats.org/officeDocument/2006/relationships/slide" Target="slides/slide3.xml"/>
  <Relationship Id="rIdSlide4" Type="http://schemas.openxmlformats.org/officeDocument/2006/relationships/slide" Target="slides/slide4.xml"/>
  <Relationship Id="rIdSlide5" Type="http://schemas.openxmlformats.org/officeDocument/2006/relationships/slide" Target="slides/slide5.xml"/>
  <Relationship Id="rIdSlide6" Type="http://schemas.openxmlformats.org/officeDocument/2006/relationships/slide" Target="slides/slide6.xml"/>
</Relationships>
</file>

<file path=ppt/notesMasters/_rels/notesMaster1.xml.rels><?xml version="1.0" encoding="UTF-8" standalone="yes"?>
<Relationships xmlns="http://schemas.openxmlformats.org/package/2006/relationships">
  <Relationship Id="rIdTheme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
  <Relationship Id="rIdSlide1" Type="http://schemas.openxmlformats.org/officeDocument/2006/relationships/slide" Target="../slides/slide1.xml"/>
  <Relationship Id="rIdNotesMaster1" Type="http://schemas.openxmlformats.org/officeDocument/2006/relationships/notesMaster" Target="../notesMasters/notesMaster1.xml"/>
</Relationships>
</file>

<file path=ppt/notesSlides/_rels/notesSlide2.xml.rels><?xml version="1.0" encoding="UTF-8" standalone="yes"?>
<Relationships xmlns="http://schemas.openxmlformats.org/package/2006/relationships">
  <Relationship Id="rIdSlide2" Type="http://schemas.openxmlformats.org/officeDocument/2006/relationships/slide" Target="../slides/slide2.xml"/>
  <Relationship Id="rIdNotesMaster1" Type="http://schemas.openxmlformats.org/officeDocument/2006/relationships/notesMaster" Target="../notesMasters/notesMaster1.xml"/>
</Relationships>
</file>

<file path=ppt/notesSlides/_rels/notesSlide3.xml.rels><?xml version="1.0" encoding="UTF-8" standalone="yes"?>
<Relationships xmlns="http://schemas.openxmlformats.org/package/2006/relationships">
  <Relationship Id="rIdSlide3" Type="http://schemas.openxmlformats.org/officeDocument/2006/relationships/slide" Target="../slides/slide3.xml"/>
  <Relationship Id="rIdNotesMaster1" Type="http://schemas.openxmlformats.org/officeDocument/2006/relationships/notesMaster" Target="../notesMasters/notesMaster1.xml"/>
</Relationships>
</file>

<file path=ppt/notesSlides/_rels/notesSlide4.xml.rels><?xml version="1.0" encoding="UTF-8" standalone="yes"?>
<Relationships xmlns="http://schemas.openxmlformats.org/package/2006/relationships">
  <Relationship Id="rIdSlide4" Type="http://schemas.openxmlformats.org/officeDocument/2006/relationships/slide" Target="../slides/slide4.xml"/>
  <Relationship Id="rIdNotesMaster1" Type="http://schemas.openxmlformats.org/officeDocument/2006/relationships/notesMaster" Target="../notesMasters/notesMaster1.xml"/>
</Relationships>
</file>

<file path=ppt/notesSlides/_rels/notesSlide5.xml.rels><?xml version="1.0" encoding="UTF-8" standalone="yes"?>
<Relationships xmlns="http://schemas.openxmlformats.org/package/2006/relationships">
  <Relationship Id="rIdSlide5" Type="http://schemas.openxmlformats.org/officeDocument/2006/relationships/slide" Target="../slides/slide5.xml"/>
  <Relationship Id="rIdNotesMaster1" Type="http://schemas.openxmlformats.org/officeDocument/2006/relationships/notesMaster" Target="../notesMasters/notesMaster1.xml"/>
</Relationships>
</file>

<file path=ppt/notesSlides/_rels/notesSlide6.xml.rels><?xml version="1.0" encoding="UTF-8" standalone="yes"?>
<Relationships xmlns="http://schemas.openxmlformats.org/package/2006/relationships">
  <Relationship Id="rIdSlide6" Type="http://schemas.openxmlformats.org/officeDocument/2006/relationships/slide" Target="../slides/slide6.xml"/>
  <Relationship Id="rIdNotesMaster1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【第1页｜0:00 - 0:12 (12秒)｜封面与核心主旨】
各位评委老师好！今天为大家展示【莱森购 Retail Intelligence Agent】——一套受契约约束的无人零售经营智能决策平台。我们的核心主旨只有一句话：终结无人零售中“看表猜原因、AI乱算账、分析无闭环”的痛点，让每一次经营诊断都有据可查，让每一次异常告警都形成可复核的行动闭环。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【第2页｜0:12 - 0:35 (23秒)｜应用场景与现实痛点】
先看我们的应用场景与现实痛点。在无人零售智能柜和连锁门店运营中，区域经理每天面对高频交易与设备状态数据。但现实中存在三大痛点：第一，传统BI报表“只给图不给结论”，比如朝阳A店销售额跌了28%，店长要在几张表里翻找是订单量跌了还是客单价跌了；第二，通用大模型“乱写SQL、幻觉归因”，经常把每日比率直接平均、漏扣员工测试单，甚至看单指标下滑就武断甩锅；第三，“诊断停留在聊天框”，发现异常后没有派单、没有SLA时限，更没有下一周期的效果复核。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【第3页｜0:35 - 1:00 (25秒)｜与传统方案的核心差异】
那我们和传统的BI看板、以及传统的Text-to-SQL聊天机器人到底有什么不一样？我们采用了独创的“餐厅点菜”契约架构：把确定性规则引擎当“后厨”，把Agent当“服务员”。Agent绝不自己进后厨写SQL、绝不心算比率，只负责听懂问题、调用7个白名单工具；当可比门店少于3家或缺失成本数据时，系统强制输出“证据不足降级”，绝不不懂装懂；更重要的是，我们从“人找数”升级为“IoT主动监控+人机确认复核”的完整闭环。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【第4页｜1:00 - 1:25 (25秒)｜最核心部分展示（一）：确定性引擎与主动监控】
接下来只展示我们最核心的两大板块。第一板块是“确定性业务引擎与双模感知”：以长春5大城区真实场景为例，当朝阳A店出现异常，系统自动拆解出订单量下滑31%、退款率高达7.0%（远超同城中位数2.1%），并联动区域投放模型测算ROI；同时，后台主动监控Loop实时监听设备心跳，一旦B店冰柜离线满5分钟自动触发告警并唤醒Agent生成核查证据，15分钟未确认自动升级。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【第5页｜1:25 - 1:45 (20秒)｜最核心部分展示（二）：7层受控Agent与行动闭环】
第二大核心板块是“LangGraph 7层受控Agent架构与行动复核闭环”。我们杜绝开放式裸答，将Agent严格限制在7个白名单工具和固定拓扑顺序内运行。当诊断出A店退款异常后，系统生成结构化行动卡——指定区域经理在24小时内抽查最近20笔退款订单，经人工确认后派发；到了下一周期，系统自动调用verify_task核验退款率是否回落到同城中位数+2%以内，实现真正的管理闭环！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【第6页｜1:45 - 2:00 (15秒)｜未来扩展愿景】
最后是我们的未来扩展愿景。第一阶段，我们将从模拟切片无缝对接到企业级实时数仓、真实IoT边缘网关与企微/钉钉审批流；第二阶段，横向扩展库存、会员、供应链维度，并引入多模态视觉巡检，自动识别冰柜缺货与开柜防损；第三阶段，基于Supabase已开启的pgvector向量能力，用历史案件的真实复核效果反向调优风险排序权重，构建自演进的无人零售全域自治大脑。谢谢大家！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Master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Theme1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</p:sldMaster>
</file>

<file path=ppt/slides/_rels/slide1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Notes1" Type="http://schemas.openxmlformats.org/officeDocument/2006/relationships/notesSlide" Target="../notesSlides/notesSlide1.xml"/>
  <Relationship Id="rIdFullSlide1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Notes2" Type="http://schemas.openxmlformats.org/officeDocument/2006/relationships/notesSlide" Target="../notesSlides/notesSlide2.xml"/>
  <Relationship Id="rIdFullSlide2" Type="http://schemas.openxmlformats.org/officeDocument/2006/relationships/image" Target="../media/image2.png"/>
</Relationships>
</file>

<file path=ppt/slides/_rels/slide3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Notes3" Type="http://schemas.openxmlformats.org/officeDocument/2006/relationships/notesSlide" Target="../notesSlides/notesSlide3.xml"/>
  <Relationship Id="rIdFullSlide3" Type="http://schemas.openxmlformats.org/officeDocument/2006/relationships/image" Target="../media/image3.png"/>
</Relationships>
</file>

<file path=ppt/slides/_rels/slide4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Notes4" Type="http://schemas.openxmlformats.org/officeDocument/2006/relationships/notesSlide" Target="../notesSlides/notesSlide4.xml"/>
  <Relationship Id="rIdFullSlide4" Type="http://schemas.openxmlformats.org/officeDocument/2006/relationships/image" Target="../media/image4.png"/>
</Relationships>
</file>

<file path=ppt/slides/_rels/slide5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Notes5" Type="http://schemas.openxmlformats.org/officeDocument/2006/relationships/notesSlide" Target="../notesSlides/notesSlide5.xml"/>
  <Relationship Id="rIdFullSlide5" Type="http://schemas.openxmlformats.org/officeDocument/2006/relationships/image" Target="../media/image5.png"/>
</Relationships>
</file>

<file path=ppt/slides/_rels/slide6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Notes6" Type="http://schemas.openxmlformats.org/officeDocument/2006/relationships/notesSlide" Target="../notesSlides/notesSlide6.xml"/>
  <Relationship Id="rIdFullSlide6" Type="http://schemas.openxmlformats.org/officeDocument/2006/relationships/image" Target="../media/image6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_2"/>
          <p:cNvPicPr>
            <a:picLocks noChangeAspect="1"/>
          </p:cNvPicPr>
          <p:nvPr/>
        </p:nvPicPr>
        <p:blipFill>
          <a:blip r:embed="rIdFullSlide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_2"/>
          <p:cNvPicPr>
            <a:picLocks noChangeAspect="1"/>
          </p:cNvPicPr>
          <p:nvPr/>
        </p:nvPicPr>
        <p:blipFill>
          <a:blip r:embed="rIdFullSlide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_2"/>
          <p:cNvPicPr>
            <a:picLocks noChangeAspect="1"/>
          </p:cNvPicPr>
          <p:nvPr/>
        </p:nvPicPr>
        <p:blipFill>
          <a:blip r:embed="rIdFullSlide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_2"/>
          <p:cNvPicPr>
            <a:picLocks noChangeAspect="1"/>
          </p:cNvPicPr>
          <p:nvPr/>
        </p:nvPicPr>
        <p:blipFill>
          <a:blip r:embed="rIdFullSlide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_2"/>
          <p:cNvPicPr>
            <a:picLocks noChangeAspect="1"/>
          </p:cNvPicPr>
          <p:nvPr/>
        </p:nvPicPr>
        <p:blipFill>
          <a:blip r:embed="rIdFullSlide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_2"/>
          <p:cNvPicPr>
            <a:picLocks noChangeAspect="1"/>
          </p:cNvPicPr>
          <p:nvPr/>
        </p:nvPicPr>
        <p:blipFill>
          <a:blip r:embed="rIdFullSlide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aisenTheme">
  <a:themeElements>
    <a:clrScheme name="LaisenColors">
      <a:dk1>
        <a:srgbClr val="111827"/>
      </a:dk1>
      <a:lt1>
        <a:srgbClr val="FFFFFF"/>
      </a:lt1>
      <a:dk2>
        <a:srgbClr val="0F172A"/>
      </a:dk2>
      <a:lt2>
        <a:srgbClr val="F7F6F2"/>
      </a:lt2>
      <a:accent1>
        <a:srgbClr val="1E3A8A"/>
      </a:accent1>
      <a:accent2>
        <a:srgbClr val="C2410C"/>
      </a:accent2>
      <a:accent3>
        <a:srgbClr val="15803D"/>
      </a:accent3>
      <a:accent4>
        <a:srgbClr val="B45309"/>
      </a:accent4>
      <a:accent5>
        <a:srgbClr val="2563EB"/>
      </a:accent5>
      <a:accent6>
        <a:srgbClr val="4B5563"/>
      </a:accent6>
      <a:hlink>
        <a:srgbClr val="2563EB"/>
      </a:hlink>
      <a:folHlink>
        <a:srgbClr val="1E3A8A"/>
      </a:folHlink>
    </a:clrScheme>
    <a:fontScheme name="LaisenFonts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LaisenF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