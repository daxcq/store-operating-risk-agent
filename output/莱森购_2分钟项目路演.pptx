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aster1"/>
  </p:sldMasterIdLst>
  <p:notesMasterIdLst>
    <p:notesMasterId r:id="rIdNotesMaster1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 type="custom"/>
  <p:notesSz cx="6858000" cy="12192000"/>
</p:presentation>
</file>

<file path=ppt/presProps.xml><?xml version="1.0" encoding="utf-8"?>
<p:presProps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ops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NotesMaster1" Type="http://schemas.openxmlformats.org/officeDocument/2006/relationships/notesMaster" Target="notesMasters/notesMaster1.xml"/>
  <Relationship Id="rIdTheme1" Type="http://schemas.openxmlformats.org/officeDocument/2006/relationships/theme" Target="theme/theme1.xml"/>
  <Relationship Id="rIdPresProps" Type="http://schemas.openxmlformats.org/officeDocument/2006/relationships/presProps" Target="presProps.xml"/>
  <Relationship Id="rIdViewProps" Type="http://schemas.openxmlformats.org/officeDocument/2006/relationships/viewProps" Target="viewProps.xml"/>
  <Relationship Id="rIdTableStyles" Type="http://schemas.openxmlformats.org/officeDocument/2006/relationships/tableStyles" Target="tableStyles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</Relationships>
</file>

<file path=ppt/notesMasters/_rels/notesMaster1.xml.rels><?xml version="1.0" encoding="UTF-8" standalone="yes"?>
<Relationships xmlns="http://schemas.openxmlformats.org/package/2006/relationships">
  <Relationship Id="rIdTheme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  <Relationship Id="rIdSlide1" Type="http://schemas.openxmlformats.org/officeDocument/2006/relationships/slide" Target="../slides/slide1.xml"/>
  <Relationship Id="rIdNotesMaster1" Type="http://schemas.openxmlformats.org/officeDocument/2006/relationships/notesMaster" Target="../notesMasters/notesMaster1.xml"/>
</Relationships>
</file>

<file path=ppt/notesSlides/_rels/notesSlide2.xml.rels><?xml version="1.0" encoding="UTF-8" standalone="yes"?>
<Relationships xmlns="http://schemas.openxmlformats.org/package/2006/relationships">
  <Relationship Id="rIdSlide2" Type="http://schemas.openxmlformats.org/officeDocument/2006/relationships/slide" Target="../slides/slide2.xml"/>
  <Relationship Id="rIdNotesMaster1" Type="http://schemas.openxmlformats.org/officeDocument/2006/relationships/notesMaster" Target="../notesMasters/notesMaster1.xml"/>
</Relationships>
</file>

<file path=ppt/notesSlides/_rels/notesSlide3.xml.rels><?xml version="1.0" encoding="UTF-8" standalone="yes"?>
<Relationships xmlns="http://schemas.openxmlformats.org/package/2006/relationships">
  <Relationship Id="rIdSlide3" Type="http://schemas.openxmlformats.org/officeDocument/2006/relationships/slide" Target="../slides/slide3.xml"/>
  <Relationship Id="rIdNotesMaster1" Type="http://schemas.openxmlformats.org/officeDocument/2006/relationships/notesMaster" Target="../notesMasters/notesMaster1.xml"/>
</Relationships>
</file>

<file path=ppt/notesSlides/_rels/notesSlide4.xml.rels><?xml version="1.0" encoding="UTF-8" standalone="yes"?>
<Relationships xmlns="http://schemas.openxmlformats.org/package/2006/relationships">
  <Relationship Id="rIdSlide4" Type="http://schemas.openxmlformats.org/officeDocument/2006/relationships/slide" Target="../slides/slide4.xml"/>
  <Relationship Id="rIdNotesMaster1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  <Relationship Id="rIdSlide5" Type="http://schemas.openxmlformats.org/officeDocument/2006/relationships/slide" Target="../slides/slide5.xml"/>
  <Relationship Id="rIdNotesMaster1" Type="http://schemas.openxmlformats.org/officeDocument/2006/relationships/notesMaster" Target="../notesMasters/notesMaster1.xml"/>
</Relationships>
</file>

<file path=ppt/notesSlides/_rels/notesSlide6.xml.rels><?xml version="1.0" encoding="UTF-8" standalone="yes"?>
<Relationships xmlns="http://schemas.openxmlformats.org/package/2006/relationships">
  <Relationship Id="rIdSlide6" Type="http://schemas.openxmlformats.org/officeDocument/2006/relationships/slide" Target="../slides/slide6.xml"/>
  <Relationship Id="rIdNotesMaster1" Type="http://schemas.openxmlformats.org/officeDocument/2006/relationships/notesMaster" Target="../notesMasters/notesMaster1.xml"/>
</Relationships>
</file>

<file path=ppt/notesSlides/_rels/notesSlide7.xml.rels><?xml version="1.0" encoding="UTF-8" standalone="yes"?>
<Relationships xmlns="http://schemas.openxmlformats.org/package/2006/relationships">
  <Relationship Id="rIdSlide7" Type="http://schemas.openxmlformats.org/officeDocument/2006/relationships/slide" Target="../slides/slide7.xml"/>
  <Relationship Id="rIdNotesMaster1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【P1｜封面与中心主旨｜00:00 - 00:12（12秒）】
各位评委老师好！今天用两分钟为您汇报《莱森购 Retail Intelligence Agent——无人零售经营智能决策平台》。
我们的中心主旨只有一句话：把门店大盘、规则审计、同城对标、区域选址、Agent 顾问、主动监控与任务复核融进同一条契约闭环，回答“关注谁、差在哪且证据是什么、现在做什么何时复核”三大问题，让无人零售经营从“看报表猜原因”进化到“给证据、派动作、验结果”！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【P2｜应用场景与三大现实痛点｜00:12 - 00:30（18秒）】
在无人零售高密度运营中，区域经理每天都在面对五大高频场景：全域风险巡检、异常门店同城对标、新商区选址测算、设备离线抢修与整改复核。
但现实中存在三大致命痛点：
第一，传统 BI 只给图表不给归因，平均值掩盖斜坡下滑，甚至把 S004 退款字段断报误判为 0 异常（致命假阴性）；
第二，通用大模型自由写 SQL 极易算错比率（平均每日比率）、在样本不足时强行编造幻觉数字；
第三，分析与执行割裂，聊完即止，没人盯设备心跳、更没有下一周期的复核闭环。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【P3｜与传统方案的本质不同｜00:30 - 00:50（20秒）】
莱森购与传统方案的本质不同，可以用“餐厅后厨”架构隐喻来概括：
我们绝不让大模型进后厨自己炒菜算账，而是由冻结的 API Contract v0.1 与确定性领域服务担任“后厨”，大模型只做“服务员”，在 7 个白名单工具内做意图编排与证据解读。
叠加四值防呆熔断、双向数值核验、KV Cache 六大铁律以及主动监控引擎，实现了五大维度的代际跨越！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【P4｜核心重点（一）：五位一体工作台 + 确定性数据与 Wiki 底座｜00:50 - 01:10（20秒）】
下面看最核心的三大技术模块。首先是前端五合一工作台与确定性数据底座：
前端将驾驶舱、审计对标、区域选址、行动中心与“莱财”AI顾问及检测台融为一体；
后端数据层不仅锁定了先聚合后算比率、订单×客单价双因子拆解、按门店中位数测算区域 ROI，还独创了“两层逐指标可比准入”与“四值规则状态机”（unavailable -&gt; insufficient -&gt; possible -&gt; none）——例如 S004 退款断报时自动触发 unavailable 熔断，同时保留其完整销售数据参与同区对标；
配合 Supabase 4张核心表与结构化 knowledge_wiki，支持内存夹具、Python 离线与云端数据库三路径无缝切换！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【P5｜核心重点（二）：LangGraph 七层编排 + KV Cache &amp; 三层记忆 + 双向护栏｜01:10 - 01:30（20秒）】
第二大核心重点是 C 端的 LangGraph 七层智能体架构与高性能上下文工程：
我们将智能体解耦为定义、模式、组件、机制、安全、编排、工程七层，组装了包含单次有界重规划（Bounded Re-plan）的 7 节点状态机；
同时严格落地《上下文与 KV Cache 约束》六大铁律（静态前缀 deepFreeze、Append-Only、SHA-256 哈希持久化摘要压缩）与三层记忆体系，支持像“那帮它创建整改任务”这样的跨轮次指代消解；
再配合输入越权拦截与输出 collectAllowedNumbers 数值白名单核验，实现了 100% 零数值幻觉与全业务脱敏表达！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【P6｜核心重点（三）：人机协同任务复核 + IoT 主动监控双闭环｜01:30 - 01:48（18秒）】
第三大核心重点是我们的“双闭环落地引擎”：
左边是人机协同经营行动闭环，Agent 生成带同行证据与预期收益的 decisionProposal 审批卡，人工确认后幂等建单，经历 open -&gt; assigned -&gt; investigating -&gt; verifying -&gt; closed/escalated 状态流转，并在下一周期根据复核指标自动关闭或升级；
右边是独立运行的 IoT 主动监控 Loop，2 分钟心跳超时自动检测去重、5 分钟通知负责人（站内+Webhook+QQ邮箱SSL）并自动唤醒 Agent 异步审计、15 分钟未确认自动升级，真正做到无人值守也有据可查！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sz="1200"/>
              <a:t>【P7｜未来扩展愿景：三阶段演进蓝图｜01:48 - 02:00（12秒）】
最后来看未来扩展愿景。我们将分三步演进：
第一阶段落地生产级 OIDC 多租户 RLS 权限隔离，打通真实 IoT 边缘网关与 ERP 实时数仓；
第二阶段横向扩展库存、会员、排班人效与边缘多模态视觉识别，实现缺货与陈列自动巡检；
第三阶段全面激活 Supabase 预留的 pgvector 1536 维向量列，用每次任务复核的真实改善率反哺风险权重，演进为自进化的多 Agent 无人零售经营大脑。谢谢各位老师！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Theme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1" Type="http://schemas.openxmlformats.org/officeDocument/2006/relationships/notesSlide" Target="../notesSlides/notesSlide1.xml"/>
  <Relationship Id="rIdP1Img1" Type="http://schemas.openxmlformats.org/officeDocument/2006/relationships/image" Target="../media/image1.png"/>
  <Relationship Id="rIdP1Img2" Type="http://schemas.openxmlformats.org/officeDocument/2006/relationships/image" Target="../media/image2.png"/>
</Relationships>
</file>

<file path=ppt/slides/_rels/slide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4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5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6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Notes7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EXECUTIVE PITCH // 01 · 2分钟项目路演（全核心亮点版）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莱森购 Retail Intelligence Agent｜无人零售经营智能决策平台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从“看报表猜原因”到“给证据、派动作、验结果” · A（前端五视图）× B（确定性数据与Wiki）× C（LangGraph智能体与监控Loop）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00:00 - 00:12 (12秒 · P1/7)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P1 · 项目总览与中心主旨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核心主旨：用冻结契约、四值规则引擎、LangGraph 受控编排、KV Cache 六大铁律与双闭环重塑无人零售决策</a:t>
            </a:r>
          </a:p>
        </p:txBody>
      </p:sp>
      <p:sp>
        <p:nvSpPr>
          <p:cNvPr id="9" name="TextBox_9"/>
          <p:cNvSpPr txBox="1"/>
          <p:nvPr/>
        </p:nvSpPr>
        <p:spPr>
          <a:xfrm>
            <a:off x="482600" y="1028700"/>
            <a:ext cx="6477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CONTRACT-FIRST · LANGGRAPH 7-LAYER AGENT · PROACTIVE IOT LOOP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2800" b="1" dirty="0">
                <a:solidFill>
                  <a:srgbClr val="142030"/>
                </a:solidFill>
                <a:latin typeface="Microsoft YaHei"/>
                <a:ea typeface="Microsoft YaHei"/>
              </a:rPr>
              <a:t>回答三大核心经营问题 · 构建六步全链路闭环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300" b="1" dirty="0">
                <a:solidFill>
                  <a:srgbClr val="C84B31"/>
                </a:solidFill>
                <a:latin typeface="Microsoft YaHei"/>
                <a:ea typeface="Microsoft YaHei"/>
              </a:rPr>
              <a:t>1. 哪些门店或区域需要关注？   2. 差距来自哪里、证据是什么？   3. 现在做什么、何时复核有效？</a:t>
            </a:r>
          </a:p>
        </p:txBody>
      </p:sp>
      <p:sp>
        <p:nvSpPr>
          <p:cNvPr id="10" name="Rect_10"/>
          <p:cNvSpPr/>
          <p:nvPr/>
        </p:nvSpPr>
        <p:spPr>
          <a:xfrm>
            <a:off x="482600" y="1905000"/>
            <a:ext cx="6477000" cy="920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1" name="Rect_11"/>
          <p:cNvSpPr/>
          <p:nvPr/>
        </p:nvSpPr>
        <p:spPr>
          <a:xfrm>
            <a:off x="482600" y="1905000"/>
            <a:ext cx="50800" cy="92075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2" name="TextBox_12"/>
          <p:cNvSpPr txBox="1"/>
          <p:nvPr/>
        </p:nvSpPr>
        <p:spPr>
          <a:xfrm>
            <a:off x="622300" y="1968500"/>
            <a:ext cx="6223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C84B31"/>
                </a:solidFill>
                <a:latin typeface="Microsoft YaHei"/>
                <a:ea typeface="Microsoft YaHei"/>
              </a:rPr>
              <a:t>中心主旨（Central Thesis）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00" b="0" dirty="0">
                <a:solidFill>
                  <a:srgbClr val="3E4E63"/>
                </a:solidFill>
                <a:latin typeface="Microsoft YaHei"/>
                <a:ea typeface="Microsoft YaHei"/>
              </a:rPr>
              <a:t>系统目标不是堆砌更多图表，而是把【门店经营数据、四值审计规则、同城对标、区域选址ROI、LangGraph 7工具智能体、IoT主动心跳监控与人工确认复核】放在同一条契约闭环里：确定性指标与异常由代码计算，Agent 仅在白名单工具与数值护栏内做编排与解读。</a:t>
            </a:r>
          </a:p>
        </p:txBody>
      </p:sp>
      <p:sp>
        <p:nvSpPr>
          <p:cNvPr id="13" name="Rect_13"/>
          <p:cNvSpPr/>
          <p:nvPr/>
        </p:nvSpPr>
        <p:spPr>
          <a:xfrm>
            <a:off x="482600" y="295275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4" name="Rect_14"/>
          <p:cNvSpPr/>
          <p:nvPr/>
        </p:nvSpPr>
        <p:spPr>
          <a:xfrm>
            <a:off x="482600" y="2952750"/>
            <a:ext cx="2082800" cy="3810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15" name="TextBox_15"/>
          <p:cNvSpPr txBox="1"/>
          <p:nvPr/>
        </p:nvSpPr>
        <p:spPr>
          <a:xfrm>
            <a:off x="571500" y="304165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01 · 双源感知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提问 &amp; 监控唤醒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自然语言问数 或 IoT离线5min自动唤醒</a:t>
            </a:r>
          </a:p>
        </p:txBody>
      </p:sp>
      <p:sp>
        <p:nvSpPr>
          <p:cNvPr id="16" name="Rect_16"/>
          <p:cNvSpPr/>
          <p:nvPr/>
        </p:nvSpPr>
        <p:spPr>
          <a:xfrm>
            <a:off x="2679700" y="295275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7" name="Rect_17"/>
          <p:cNvSpPr/>
          <p:nvPr/>
        </p:nvSpPr>
        <p:spPr>
          <a:xfrm>
            <a:off x="2679700" y="2952750"/>
            <a:ext cx="2082800" cy="3810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2768600" y="304165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02 · 受控规划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白名单工具编排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LangGraph 7节点状态机 + 单次有界重规划</a:t>
            </a:r>
          </a:p>
        </p:txBody>
      </p:sp>
      <p:sp>
        <p:nvSpPr>
          <p:cNvPr id="19" name="Rect_19"/>
          <p:cNvSpPr/>
          <p:nvPr/>
        </p:nvSpPr>
        <p:spPr>
          <a:xfrm>
            <a:off x="4876800" y="295275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0" name="Rect_20"/>
          <p:cNvSpPr/>
          <p:nvPr/>
        </p:nvSpPr>
        <p:spPr>
          <a:xfrm>
            <a:off x="4876800" y="2952750"/>
            <a:ext cx="2082800" cy="3810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21" name="TextBox_21"/>
          <p:cNvSpPr txBox="1"/>
          <p:nvPr/>
        </p:nvSpPr>
        <p:spPr>
          <a:xfrm>
            <a:off x="4965700" y="304165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03 · 确定计算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指标 / 对标 / 选址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订单×客单价拆解、两层准入、中位数ROI</a:t>
            </a:r>
          </a:p>
        </p:txBody>
      </p:sp>
      <p:sp>
        <p:nvSpPr>
          <p:cNvPr id="22" name="Rect_22"/>
          <p:cNvSpPr/>
          <p:nvPr/>
        </p:nvSpPr>
        <p:spPr>
          <a:xfrm>
            <a:off x="482600" y="400050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3" name="Rect_23"/>
          <p:cNvSpPr/>
          <p:nvPr/>
        </p:nvSpPr>
        <p:spPr>
          <a:xfrm>
            <a:off x="482600" y="4000500"/>
            <a:ext cx="2082800" cy="3810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24" name="TextBox_24"/>
          <p:cNvSpPr txBox="1"/>
          <p:nvPr/>
        </p:nvSpPr>
        <p:spPr>
          <a:xfrm>
            <a:off x="571500" y="408940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04 · 证据防呆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四值状态 &amp; 护栏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unavailable优先熔断 + 输出数值白名单核验</a:t>
            </a:r>
          </a:p>
        </p:txBody>
      </p:sp>
      <p:sp>
        <p:nvSpPr>
          <p:cNvPr id="25" name="Rect_25"/>
          <p:cNvSpPr/>
          <p:nvPr/>
        </p:nvSpPr>
        <p:spPr>
          <a:xfrm>
            <a:off x="2679700" y="400050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6" name="Rect_26"/>
          <p:cNvSpPr/>
          <p:nvPr/>
        </p:nvSpPr>
        <p:spPr>
          <a:xfrm>
            <a:off x="2679700" y="4000500"/>
            <a:ext cx="2082800" cy="3810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27" name="TextBox_27"/>
          <p:cNvSpPr txBox="1"/>
          <p:nvPr/>
        </p:nvSpPr>
        <p:spPr>
          <a:xfrm>
            <a:off x="2768600" y="408940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05 · 人机协同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审批建单与派发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生成 decisionProposal 经人工确认幂等建单</a:t>
            </a:r>
          </a:p>
        </p:txBody>
      </p:sp>
      <p:sp>
        <p:nvSpPr>
          <p:cNvPr id="28" name="Rect_28"/>
          <p:cNvSpPr/>
          <p:nvPr/>
        </p:nvSpPr>
        <p:spPr>
          <a:xfrm>
            <a:off x="4876800" y="4000500"/>
            <a:ext cx="2082800" cy="952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9" name="Rect_29"/>
          <p:cNvSpPr/>
          <p:nvPr/>
        </p:nvSpPr>
        <p:spPr>
          <a:xfrm>
            <a:off x="4876800" y="4000500"/>
            <a:ext cx="2082800" cy="3810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30" name="TextBox_30"/>
          <p:cNvSpPr txBox="1"/>
          <p:nvPr/>
        </p:nvSpPr>
        <p:spPr>
          <a:xfrm>
            <a:off x="4965700" y="4089400"/>
            <a:ext cx="1905000" cy="793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50" b="1" dirty="0">
                <a:solidFill>
                  <a:srgbClr val="C84B31"/>
                </a:solidFill>
                <a:latin typeface="Microsoft YaHei"/>
                <a:ea typeface="Microsoft YaHei"/>
              </a:rPr>
              <a:t>STEP 06 · 周期验证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400" b="1" dirty="0">
                <a:solidFill>
                  <a:srgbClr val="142030"/>
                </a:solidFill>
                <a:latin typeface="Microsoft YaHei"/>
                <a:ea typeface="Microsoft YaHei"/>
              </a:rPr>
              <a:t>复核关闭或升级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3E4E63"/>
                </a:solidFill>
                <a:latin typeface="Microsoft YaHei"/>
                <a:ea typeface="Microsoft YaHei"/>
              </a:rPr>
              <a:t>下一周期 verify_task 达标关闭、未达标升级</a:t>
            </a:r>
          </a:p>
        </p:txBody>
      </p:sp>
      <p:sp>
        <p:nvSpPr>
          <p:cNvPr id="31" name="Rect_31"/>
          <p:cNvSpPr/>
          <p:nvPr/>
        </p:nvSpPr>
        <p:spPr>
          <a:xfrm>
            <a:off x="482600" y="5111750"/>
            <a:ext cx="6477000" cy="1206500"/>
          </a:xfrm>
          <a:prstGeom prst="rect">
            <a:avLst/>
          </a:prstGeom>
          <a:solidFill>
            <a:srgbClr val="142030"/>
          </a:solidFill>
          <a:ln w="12700">
            <a:solidFill>
              <a:srgbClr val="1E3A5F"/>
            </a:solidFill>
          </a:ln>
        </p:spPr>
      </p:sp>
      <p:sp>
        <p:nvSpPr>
          <p:cNvPr id="32" name="TextBox_32"/>
          <p:cNvSpPr txBox="1"/>
          <p:nvPr/>
        </p:nvSpPr>
        <p:spPr>
          <a:xfrm>
            <a:off x="609600" y="5194300"/>
            <a:ext cx="6223000" cy="1047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lang="zh-CN" altLang="en-US" sz="1200" b="1" dirty="0">
                <a:solidFill>
                  <a:srgbClr val="FCD34D"/>
                </a:solidFill>
                <a:latin typeface="Microsoft YaHei"/>
                <a:ea typeface="Microsoft YaHei"/>
              </a:rPr>
              <a:t>全栈核心模块一览（A + B + C 三端深度协同）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• A 端（前端五合一工作台）：经营驾驶舱(GIS地图+42天斜坡) / 智能审计与对标 / 区域投放决策 / 行动中心 / 莱财AI顾问+Agent检测台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• B 端（确定性数据层与Wiki）：四值状态机(S004断报熔断) + 两层逐指标可比准入 + 门店中位数ROI + Supabase 4张表与1536维向量Wiki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• C 端（LangGraph 七层智能体）：7节点状态图 + KV Cache六铁律 + 三层记忆指代消解 + 双向护栏0幻觉 + IoT主动监控Loop(站内/Webhook/QQ邮箱)</a:t>
            </a:r>
          </a:p>
        </p:txBody>
      </p:sp>
      <p:sp>
        <p:nvSpPr>
          <p:cNvPr id="33" name="Rect_33"/>
          <p:cNvSpPr/>
          <p:nvPr/>
        </p:nvSpPr>
        <p:spPr>
          <a:xfrm>
            <a:off x="7112000" y="1028700"/>
            <a:ext cx="4597400" cy="2571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4" name="TextBox_34"/>
          <p:cNvSpPr txBox="1"/>
          <p:nvPr/>
        </p:nvSpPr>
        <p:spPr>
          <a:xfrm>
            <a:off x="7200900" y="1066800"/>
            <a:ext cx="44196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1E3A5F"/>
                </a:solidFill>
                <a:latin typeface="Microsoft YaHei"/>
                <a:ea typeface="Microsoft YaHei"/>
              </a:rPr>
              <a:t>📊 界面实景 I：全局经营驾驶舱与四值风险态势</a:t>
            </a:r>
          </a:p>
        </p:txBody>
      </p:sp>
      <p:pic>
        <p:nvPicPr>
          <p:cNvPr id="35" name="Pic_35"/>
          <p:cNvPicPr>
            <a:picLocks noChangeAspect="1"/>
          </p:cNvPicPr>
          <p:nvPr/>
        </p:nvPicPr>
        <p:blipFill>
          <a:blip r:embed="rIdP1Img1"/>
          <a:stretch>
            <a:fillRect/>
          </a:stretch>
        </p:blipFill>
        <p:spPr>
          <a:xfrm>
            <a:off x="7200900" y="1257300"/>
            <a:ext cx="4419600" cy="2260600"/>
          </a:xfrm>
          <a:prstGeom prst="rect">
            <a:avLst/>
          </a:prstGeom>
        </p:spPr>
      </p:pic>
      <p:sp>
        <p:nvSpPr>
          <p:cNvPr id="36" name="Rect_36"/>
          <p:cNvSpPr/>
          <p:nvPr/>
        </p:nvSpPr>
        <p:spPr>
          <a:xfrm>
            <a:off x="7112000" y="3733800"/>
            <a:ext cx="4597400" cy="2571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7" name="TextBox_37"/>
          <p:cNvSpPr txBox="1"/>
          <p:nvPr/>
        </p:nvSpPr>
        <p:spPr>
          <a:xfrm>
            <a:off x="7200900" y="3771900"/>
            <a:ext cx="4419600" cy="1778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00" b="1" dirty="0">
                <a:solidFill>
                  <a:srgbClr val="C84B31"/>
                </a:solidFill>
                <a:latin typeface="Microsoft YaHei"/>
                <a:ea typeface="Microsoft YaHei"/>
              </a:rPr>
              <a:t>🤖 界面实景 II：智能审计、同城对标与行动卡派发</a:t>
            </a:r>
          </a:p>
        </p:txBody>
      </p:sp>
      <p:pic>
        <p:nvPicPr>
          <p:cNvPr id="38" name="Pic_38"/>
          <p:cNvPicPr>
            <a:picLocks noChangeAspect="1"/>
          </p:cNvPicPr>
          <p:nvPr/>
        </p:nvPicPr>
        <p:blipFill>
          <a:blip r:embed="rIdP1Img2"/>
          <a:stretch>
            <a:fillRect/>
          </a:stretch>
        </p:blipFill>
        <p:spPr>
          <a:xfrm>
            <a:off x="7200900" y="3962400"/>
            <a:ext cx="4419600" cy="226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SCENARIOS &amp; PAIN POINTS // 02 · 五大高频场景与三大现实痛点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扎根无人零售高频运营场景 · 终结“看图猜原因、AI 乱算账、分析无闭环”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以长春 5 大城区（朝阳/南关/宽城/二道/绿园）、42 台智能零售柜与 21 家参照门店×42天日经营数据为真实蓝本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00:12 - 00:30 (18秒 · P2/7)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P2 · 应用场景与现实痛点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痛点决定架构：每一个痛点都对应莱森购的一项硬核工程约束（四值规则引擎、白名单工具、主动监控与复核状态机）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28700"/>
            <a:ext cx="11226800" cy="825500"/>
          </a:xfrm>
          <a:prstGeom prst="rect">
            <a:avLst/>
          </a:prstGeom>
          <a:solidFill>
            <a:srgbClr val="142030"/>
          </a:solidFill>
          <a:ln w="12700">
            <a:solidFill>
              <a:srgbClr val="1E3A5F"/>
            </a:solidFill>
          </a:ln>
        </p:spPr>
      </p:sp>
      <p:sp>
        <p:nvSpPr>
          <p:cNvPr id="10" name="TextBox_10"/>
          <p:cNvSpPr txBox="1"/>
          <p:nvPr/>
        </p:nvSpPr>
        <p:spPr>
          <a:xfrm>
            <a:off x="609600" y="1092200"/>
            <a:ext cx="10972800" cy="698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lang="zh-CN" altLang="en-US" sz="1100" b="1" dirty="0">
                <a:solidFill>
                  <a:srgbClr val="FCD34D"/>
                </a:solidFill>
                <a:latin typeface="Microsoft YaHei"/>
                <a:ea typeface="Microsoft YaHei"/>
              </a:rPr>
              <a:t>五大核心业务应用场景（5 Core Business Scenarios）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FFFFFF"/>
                </a:solidFill>
                <a:latin typeface="Microsoft YaHei"/>
                <a:ea typeface="Microsoft YaHei"/>
              </a:rPr>
              <a:t>① 全域经营巡检与 GIS 风险地图（¥105.4万销额 / ¥21.8万利润 / 42台设备 / 95.2%在线率）   |   ② 门店异动诊断与同城对标（A店/S001 退款率 7.0% vs 同城中位 2.1%，订单跌 31%）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93C5FD"/>
                </a:solidFill>
                <a:latin typeface="Microsoft YaHei"/>
                <a:ea typeface="Microsoft YaHei"/>
              </a:rPr>
              <a:t>③ 新区选址四维评分与 ROI 测算（朝阳区 86.5分/8.4月回本 vs 南关区 71.0分/缺租金返回 null）   |   ④ 7×24h 设备心跳离线主动巡检   |   ⑤ 整改派单与下一周期指标复核</a:t>
            </a:r>
          </a:p>
        </p:txBody>
      </p:sp>
      <p:sp>
        <p:nvSpPr>
          <p:cNvPr id="11" name="Rect_11"/>
          <p:cNvSpPr/>
          <p:nvPr/>
        </p:nvSpPr>
        <p:spPr>
          <a:xfrm>
            <a:off x="482600" y="1981200"/>
            <a:ext cx="3606800" cy="433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2" name="Rect_12"/>
          <p:cNvSpPr/>
          <p:nvPr/>
        </p:nvSpPr>
        <p:spPr>
          <a:xfrm>
            <a:off x="482600" y="1981200"/>
            <a:ext cx="3606800" cy="4445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09600" y="2095500"/>
            <a:ext cx="3352800" cy="3695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C84B31"/>
                </a:solidFill>
                <a:latin typeface="Microsoft YaHei"/>
                <a:ea typeface="Microsoft YaHei"/>
              </a:rPr>
              <a:t>PAIN POINT 01 // 传统 BI 报表的局限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只给图表不给归因 · 聚合掩盖斜坡与断报假阴性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跨表人肉排查耗时耗力：面对 20+ 门店与 40+ 智能柜，运营需在多张表间手工关联销售额、订单量、客单价与退款率。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周期平均值掩盖恶化斜坡：传统周报只看汇总均值，完全掩盖了 S001 门店连续 3 天加速下滑的日趋势斜率。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字段断报导致致命“假阴性”：当 S004 门店自 10月6日起退款字段缺失（NULL 占比 33%），传统 BI 常将其当作 0 异常，漏掉高危故障。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容易误伤单店店长：不区分“整个城区受天气/停电同步下滑（区域性波动）”与“单店自身经营恶化”。</a:t>
            </a:r>
          </a:p>
        </p:txBody>
      </p:sp>
      <p:sp>
        <p:nvSpPr>
          <p:cNvPr id="14" name="Rect_14"/>
          <p:cNvSpPr/>
          <p:nvPr/>
        </p:nvSpPr>
        <p:spPr>
          <a:xfrm>
            <a:off x="596900" y="5829300"/>
            <a:ext cx="3378200" cy="368300"/>
          </a:xfrm>
          <a:prstGeom prst="rect">
            <a:avLst/>
          </a:prstGeom>
          <a:solidFill>
            <a:srgbClr val="FDF2F0"/>
          </a:solidFill>
          <a:ln>
            <a:noFill/>
          </a:ln>
        </p:spPr>
      </p:sp>
      <p:sp>
        <p:nvSpPr>
          <p:cNvPr id="15" name="TextBox_15"/>
          <p:cNvSpPr txBox="1"/>
          <p:nvPr/>
        </p:nvSpPr>
        <p:spPr>
          <a:xfrm>
            <a:off x="660400" y="58674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核心症结：只有静态数字，没有双因子拆解与数据完整性防呆</a:t>
            </a:r>
          </a:p>
        </p:txBody>
      </p:sp>
      <p:sp>
        <p:nvSpPr>
          <p:cNvPr id="16" name="Rect_16"/>
          <p:cNvSpPr/>
          <p:nvPr/>
        </p:nvSpPr>
        <p:spPr>
          <a:xfrm>
            <a:off x="4292600" y="1981200"/>
            <a:ext cx="3606800" cy="433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7" name="Rect_17"/>
          <p:cNvSpPr/>
          <p:nvPr/>
        </p:nvSpPr>
        <p:spPr>
          <a:xfrm>
            <a:off x="4292600" y="1981200"/>
            <a:ext cx="3606800" cy="44450"/>
          </a:xfrm>
          <a:prstGeom prst="rect">
            <a:avLst/>
          </a:prstGeom>
          <a:solidFill>
            <a:srgbClr val="D97706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4419600" y="2095500"/>
            <a:ext cx="3352800" cy="3695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D97706"/>
                </a:solidFill>
                <a:latin typeface="Microsoft YaHei"/>
                <a:ea typeface="Microsoft YaHei"/>
              </a:rPr>
              <a:t>PAIN POINT 02 // 通用大模型 / Text-to-SQL 的隐患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AI 自由写 SQL 算错口径 · 样本不足强行幻觉定责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D97706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口径失真与除零错误：LLM 极易直接对每日比率求平均（AVG(daily_rate)），而非先聚合分子分母（SUM(refunds)/NULLIF(SUM(orders),0)）。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D97706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小样本与缺字段强行编造：当可比门店少于 3 家，或南关区缺失长租成本（fixed_monthly_rent = null）时，通用 AI 仍会编造回本周期。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D97706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武断归因与词汇越界：仅凭单一指标波动就咬定“店长舞弊”或“冷链损坏”，缺乏同城基准（Peer Median）与多规则交叉印证。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D97706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安全与注入风险：直接放开 SQL 生成极易遭遇 Prompt 注入（如越权查询、篡改规则阈值或直接触发外部写操作）。</a:t>
            </a:r>
          </a:p>
        </p:txBody>
      </p:sp>
      <p:sp>
        <p:nvSpPr>
          <p:cNvPr id="19" name="Rect_19"/>
          <p:cNvSpPr/>
          <p:nvPr/>
        </p:nvSpPr>
        <p:spPr>
          <a:xfrm>
            <a:off x="4406900" y="5829300"/>
            <a:ext cx="3378200" cy="368300"/>
          </a:xfrm>
          <a:prstGeom prst="rect">
            <a:avLst/>
          </a:prstGeom>
          <a:solidFill>
            <a:srgbClr val="FEF7EA"/>
          </a:solidFill>
          <a:ln>
            <a:noFill/>
          </a:ln>
        </p:spPr>
      </p:sp>
      <p:sp>
        <p:nvSpPr>
          <p:cNvPr id="20" name="TextBox_20"/>
          <p:cNvSpPr txBox="1"/>
          <p:nvPr/>
        </p:nvSpPr>
        <p:spPr>
          <a:xfrm>
            <a:off x="4470400" y="58674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D97706"/>
                </a:solidFill>
                <a:latin typeface="Microsoft YaHei"/>
                <a:ea typeface="Microsoft YaHei"/>
              </a:rPr>
              <a:t>核心症结：把大模型当计算器，缺乏领域契约与输出数值白名单校验</a:t>
            </a:r>
          </a:p>
        </p:txBody>
      </p:sp>
      <p:sp>
        <p:nvSpPr>
          <p:cNvPr id="21" name="Rect_21"/>
          <p:cNvSpPr/>
          <p:nvPr/>
        </p:nvSpPr>
        <p:spPr>
          <a:xfrm>
            <a:off x="8102600" y="1981200"/>
            <a:ext cx="3606800" cy="433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2" name="Rect_22"/>
          <p:cNvSpPr/>
          <p:nvPr/>
        </p:nvSpPr>
        <p:spPr>
          <a:xfrm>
            <a:off x="8102600" y="1981200"/>
            <a:ext cx="3606800" cy="4445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23" name="TextBox_23"/>
          <p:cNvSpPr txBox="1"/>
          <p:nvPr/>
        </p:nvSpPr>
        <p:spPr>
          <a:xfrm>
            <a:off x="8229600" y="2095500"/>
            <a:ext cx="3352800" cy="3695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E3A5F"/>
                </a:solidFill>
                <a:latin typeface="Microsoft YaHei"/>
                <a:ea typeface="Microsoft YaHei"/>
              </a:rPr>
              <a:t>PAIN POINT 03 // 问答与工单系统割裂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被动等待提问 · 聊完即止无派单、无升级、无复核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设备掉线无人主动盯防：传统 AI 必须等运营主动提问才响应；半夜智能柜心跳离线若无人察觉，将直接造成冰品化冻与客诉。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建议沦为空话、缺乏四要素：只输出“建议加强退款管理”，没有明确执行动作、负责角色（Owner）、时限（Due）与复核目标。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无人工确认护栏与幂等保护：要么无法落地建单，要么失控重复建单，缺乏从建议草案（decisionProposal）到正式任务的审批关卡。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缺乏下一周期效果复核：派单后不知是否有效，无法根据下一周期 refund_rate 改善情况自动关闭（closed）或升级（escalated）。</a:t>
            </a:r>
          </a:p>
        </p:txBody>
      </p:sp>
      <p:sp>
        <p:nvSpPr>
          <p:cNvPr id="24" name="Rect_24"/>
          <p:cNvSpPr/>
          <p:nvPr/>
        </p:nvSpPr>
        <p:spPr>
          <a:xfrm>
            <a:off x="8216900" y="5829300"/>
            <a:ext cx="3378200" cy="368300"/>
          </a:xfrm>
          <a:prstGeom prst="rect">
            <a:avLst/>
          </a:prstGeom>
          <a:solidFill>
            <a:srgbClr val="EFF4FA"/>
          </a:solidFill>
          <a:ln>
            <a:noFill/>
          </a:ln>
        </p:spPr>
      </p:sp>
      <p:sp>
        <p:nvSpPr>
          <p:cNvPr id="25" name="TextBox_25"/>
          <p:cNvSpPr txBox="1"/>
          <p:nvPr/>
        </p:nvSpPr>
        <p:spPr>
          <a:xfrm>
            <a:off x="8280400" y="58674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核心症结：停留在“聊天问答”，未打通主动监控与复核闭环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KEY DIFFERENTIATORS // 03 · 为什么我们和传统 BI / 通用大模型完全不同？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核心哲学：确定性引擎做“后厨”算准事实，受控 Agent 做“服务员”编排与表达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A（前端五视图）/ B（确定性数据与规则层）/ C（LangGraph 智能体与 API）基于冻结契约 API Contract v0.1 并行解耦协作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00:30 - 00:50 (20秒 · P3/7)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P3 · 核心差异化对比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不是“给大模型接个数据库”，而是用冻结契约、规则状态机、KV Cache 六铁律、安全护栏与主动闭环重塑企业级 Agent 标准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28700"/>
            <a:ext cx="2730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0" name="Rect_10"/>
          <p:cNvSpPr/>
          <p:nvPr/>
        </p:nvSpPr>
        <p:spPr>
          <a:xfrm>
            <a:off x="482600" y="1028700"/>
            <a:ext cx="38100" cy="58420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571500" y="1079500"/>
            <a:ext cx="2578100" cy="482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1. 标准化后厨 (B层确定性引擎)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19" b="0" dirty="0">
                <a:solidFill>
                  <a:srgbClr val="3E4E63"/>
                </a:solidFill>
                <a:latin typeface="Microsoft YaHei"/>
                <a:ea typeface="Microsoft YaHei"/>
              </a:rPr>
              <a:t>先SUM后算比率、中位数ROI、unavailable→insufficient→possible→none四值序</a:t>
            </a:r>
          </a:p>
        </p:txBody>
      </p:sp>
      <p:sp>
        <p:nvSpPr>
          <p:cNvPr id="12" name="Rect_12"/>
          <p:cNvSpPr/>
          <p:nvPr/>
        </p:nvSpPr>
        <p:spPr>
          <a:xfrm>
            <a:off x="3314700" y="1028700"/>
            <a:ext cx="2730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3" name="Rect_13"/>
          <p:cNvSpPr/>
          <p:nvPr/>
        </p:nvSpPr>
        <p:spPr>
          <a:xfrm>
            <a:off x="3314700" y="1028700"/>
            <a:ext cx="38100" cy="58420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4" name="TextBox_14"/>
          <p:cNvSpPr txBox="1"/>
          <p:nvPr/>
        </p:nvSpPr>
        <p:spPr>
          <a:xfrm>
            <a:off x="3403600" y="1079500"/>
            <a:ext cx="2578100" cy="482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2. 受控服务员 (C层7工具+双向护栏)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19" b="0" dirty="0">
                <a:solidFill>
                  <a:srgbClr val="3E4E63"/>
                </a:solidFill>
                <a:latin typeface="Microsoft YaHei"/>
                <a:ea typeface="Microsoft YaHei"/>
              </a:rPr>
              <a:t>禁写SQL/禁改阈值，collectAllowedNumbers逐字核对证据池，100%零数值幻觉</a:t>
            </a:r>
          </a:p>
        </p:txBody>
      </p:sp>
      <p:sp>
        <p:nvSpPr>
          <p:cNvPr id="15" name="Rect_15"/>
          <p:cNvSpPr/>
          <p:nvPr/>
        </p:nvSpPr>
        <p:spPr>
          <a:xfrm>
            <a:off x="6146800" y="1028700"/>
            <a:ext cx="2730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6" name="Rect_16"/>
          <p:cNvSpPr/>
          <p:nvPr/>
        </p:nvSpPr>
        <p:spPr>
          <a:xfrm>
            <a:off x="6146800" y="1028700"/>
            <a:ext cx="38100" cy="584200"/>
          </a:xfrm>
          <a:prstGeom prst="rect">
            <a:avLst/>
          </a:prstGeom>
          <a:solidFill>
            <a:srgbClr val="5B4B8A"/>
          </a:solidFill>
          <a:ln>
            <a:noFill/>
          </a:ln>
        </p:spPr>
      </p:sp>
      <p:sp>
        <p:nvSpPr>
          <p:cNvPr id="17" name="TextBox_17"/>
          <p:cNvSpPr txBox="1"/>
          <p:nvPr/>
        </p:nvSpPr>
        <p:spPr>
          <a:xfrm>
            <a:off x="6235700" y="1079500"/>
            <a:ext cx="2578100" cy="482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150" b="1" dirty="0">
                <a:solidFill>
                  <a:srgbClr val="5B4B8A"/>
                </a:solidFill>
                <a:latin typeface="Microsoft YaHei"/>
                <a:ea typeface="Microsoft YaHei"/>
              </a:rPr>
              <a:t>3. 高性能上下文 (KV Cache六铁律+三层记忆)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19" b="0" dirty="0">
                <a:solidFill>
                  <a:srgbClr val="3E4E63"/>
                </a:solidFill>
                <a:latin typeface="Microsoft YaHei"/>
                <a:ea typeface="Microsoft YaHei"/>
              </a:rPr>
              <a:t>静态前缀deepFreeze、Append-Only、SHA-256压缩复用、跨轮次实体槽指代消解</a:t>
            </a:r>
          </a:p>
        </p:txBody>
      </p:sp>
      <p:sp>
        <p:nvSpPr>
          <p:cNvPr id="18" name="Rect_18"/>
          <p:cNvSpPr/>
          <p:nvPr/>
        </p:nvSpPr>
        <p:spPr>
          <a:xfrm>
            <a:off x="8978900" y="1028700"/>
            <a:ext cx="2730500" cy="584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9" name="Rect_19"/>
          <p:cNvSpPr/>
          <p:nvPr/>
        </p:nvSpPr>
        <p:spPr>
          <a:xfrm>
            <a:off x="8978900" y="1028700"/>
            <a:ext cx="38100" cy="584200"/>
          </a:xfrm>
          <a:prstGeom prst="rect">
            <a:avLst/>
          </a:prstGeom>
          <a:solidFill>
            <a:srgbClr val="1F6F54"/>
          </a:solidFill>
          <a:ln>
            <a:noFill/>
          </a:ln>
        </p:spPr>
      </p:sp>
      <p:sp>
        <p:nvSpPr>
          <p:cNvPr id="20" name="TextBox_20"/>
          <p:cNvSpPr txBox="1"/>
          <p:nvPr/>
        </p:nvSpPr>
        <p:spPr>
          <a:xfrm>
            <a:off x="9067800" y="1079500"/>
            <a:ext cx="2578100" cy="4826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4. 全天候巡检员 (主动监控+人工复核)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19" b="0" dirty="0">
                <a:solidFill>
                  <a:srgbClr val="3E4E63"/>
                </a:solidFill>
                <a:latin typeface="Microsoft YaHei"/>
                <a:ea typeface="Microsoft YaHei"/>
              </a:rPr>
              <a:t>离线5min告警唤醒Agent审计、15min升级；人工确认建单并按周期复核关闭/升级</a:t>
            </a:r>
          </a:p>
        </p:txBody>
      </p:sp>
      <p:sp>
        <p:nvSpPr>
          <p:cNvPr id="21" name="Rect_21"/>
          <p:cNvSpPr/>
          <p:nvPr/>
        </p:nvSpPr>
        <p:spPr>
          <a:xfrm>
            <a:off x="482600" y="1714500"/>
            <a:ext cx="1587500" cy="342900"/>
          </a:xfrm>
          <a:prstGeom prst="rect">
            <a:avLst/>
          </a:prstGeom>
          <a:solidFill>
            <a:srgbClr val="142030"/>
          </a:solidFill>
          <a:ln w="12700">
            <a:solidFill>
              <a:srgbClr val="DCD6C8"/>
            </a:solidFill>
          </a:ln>
        </p:spPr>
      </p:sp>
      <p:sp>
        <p:nvSpPr>
          <p:cNvPr id="22" name="TextBox_22"/>
          <p:cNvSpPr txBox="1"/>
          <p:nvPr/>
        </p:nvSpPr>
        <p:spPr>
          <a:xfrm>
            <a:off x="558800" y="1752600"/>
            <a:ext cx="14351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00" b="1" dirty="0">
                <a:solidFill>
                  <a:srgbClr val="FFFFFF"/>
                </a:solidFill>
                <a:latin typeface="Microsoft YaHei"/>
                <a:ea typeface="Microsoft YaHei"/>
              </a:rPr>
              <a:t>核心对比维度</a:t>
            </a:r>
          </a:p>
        </p:txBody>
      </p:sp>
      <p:sp>
        <p:nvSpPr>
          <p:cNvPr id="23" name="Rect_23"/>
          <p:cNvSpPr/>
          <p:nvPr/>
        </p:nvSpPr>
        <p:spPr>
          <a:xfrm>
            <a:off x="2070100" y="1714500"/>
            <a:ext cx="2603500" cy="342900"/>
          </a:xfrm>
          <a:prstGeom prst="rect">
            <a:avLst/>
          </a:prstGeom>
          <a:solidFill>
            <a:srgbClr val="142030"/>
          </a:solidFill>
          <a:ln w="12700">
            <a:solidFill>
              <a:srgbClr val="DCD6C8"/>
            </a:solidFill>
          </a:ln>
        </p:spPr>
      </p:sp>
      <p:sp>
        <p:nvSpPr>
          <p:cNvPr id="24" name="TextBox_24"/>
          <p:cNvSpPr txBox="1"/>
          <p:nvPr/>
        </p:nvSpPr>
        <p:spPr>
          <a:xfrm>
            <a:off x="2146300" y="1752600"/>
            <a:ext cx="24511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00" b="1" dirty="0">
                <a:solidFill>
                  <a:srgbClr val="FFFFFF"/>
                </a:solidFill>
                <a:latin typeface="Microsoft YaHei"/>
                <a:ea typeface="Microsoft YaHei"/>
              </a:rPr>
              <a:t>传统 BI 报表系统</a:t>
            </a:r>
          </a:p>
        </p:txBody>
      </p:sp>
      <p:sp>
        <p:nvSpPr>
          <p:cNvPr id="25" name="Rect_25"/>
          <p:cNvSpPr/>
          <p:nvPr/>
        </p:nvSpPr>
        <p:spPr>
          <a:xfrm>
            <a:off x="4673600" y="1714500"/>
            <a:ext cx="2857500" cy="342900"/>
          </a:xfrm>
          <a:prstGeom prst="rect">
            <a:avLst/>
          </a:prstGeom>
          <a:solidFill>
            <a:srgbClr val="142030"/>
          </a:solidFill>
          <a:ln w="12700">
            <a:solidFill>
              <a:srgbClr val="DCD6C8"/>
            </a:solidFill>
          </a:ln>
        </p:spPr>
      </p:sp>
      <p:sp>
        <p:nvSpPr>
          <p:cNvPr id="26" name="TextBox_26"/>
          <p:cNvSpPr txBox="1"/>
          <p:nvPr/>
        </p:nvSpPr>
        <p:spPr>
          <a:xfrm>
            <a:off x="4749800" y="1752600"/>
            <a:ext cx="27051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00" b="1" dirty="0">
                <a:solidFill>
                  <a:srgbClr val="FFFFFF"/>
                </a:solidFill>
                <a:latin typeface="Microsoft YaHei"/>
                <a:ea typeface="Microsoft YaHei"/>
              </a:rPr>
              <a:t>传统通用 AI (Text-to-SQL)</a:t>
            </a:r>
          </a:p>
        </p:txBody>
      </p:sp>
      <p:sp>
        <p:nvSpPr>
          <p:cNvPr id="27" name="Rect_27"/>
          <p:cNvSpPr/>
          <p:nvPr/>
        </p:nvSpPr>
        <p:spPr>
          <a:xfrm>
            <a:off x="7531100" y="1714500"/>
            <a:ext cx="4178300" cy="342900"/>
          </a:xfrm>
          <a:prstGeom prst="rect">
            <a:avLst/>
          </a:prstGeom>
          <a:solidFill>
            <a:srgbClr val="1E3A5F"/>
          </a:solidFill>
          <a:ln w="12700">
            <a:solidFill>
              <a:srgbClr val="DCD6C8"/>
            </a:solidFill>
          </a:ln>
        </p:spPr>
      </p:sp>
      <p:sp>
        <p:nvSpPr>
          <p:cNvPr id="28" name="TextBox_28"/>
          <p:cNvSpPr txBox="1"/>
          <p:nvPr/>
        </p:nvSpPr>
        <p:spPr>
          <a:xfrm>
            <a:off x="7607300" y="1752600"/>
            <a:ext cx="4025900" cy="2667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00" b="1" dirty="0">
                <a:solidFill>
                  <a:srgbClr val="FCD34D"/>
                </a:solidFill>
                <a:latin typeface="Microsoft YaHei"/>
                <a:ea typeface="Microsoft YaHei"/>
              </a:rPr>
              <a:t>✦ 莱森购 Retail Intelligence Agent（本项目）</a:t>
            </a:r>
          </a:p>
        </p:txBody>
      </p:sp>
      <p:sp>
        <p:nvSpPr>
          <p:cNvPr id="29" name="Rect_29"/>
          <p:cNvSpPr/>
          <p:nvPr/>
        </p:nvSpPr>
        <p:spPr>
          <a:xfrm>
            <a:off x="482600" y="2057400"/>
            <a:ext cx="158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0" name="TextBox_30"/>
          <p:cNvSpPr txBox="1"/>
          <p:nvPr/>
        </p:nvSpPr>
        <p:spPr>
          <a:xfrm>
            <a:off x="558800" y="2108200"/>
            <a:ext cx="143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1. 口径与计算准确性</a:t>
            </a:r>
          </a:p>
        </p:txBody>
      </p:sp>
      <p:sp>
        <p:nvSpPr>
          <p:cNvPr id="31" name="Rect_31"/>
          <p:cNvSpPr/>
          <p:nvPr/>
        </p:nvSpPr>
        <p:spPr>
          <a:xfrm>
            <a:off x="2070100" y="2057400"/>
            <a:ext cx="2603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2" name="TextBox_32"/>
          <p:cNvSpPr txBox="1"/>
          <p:nvPr/>
        </p:nvSpPr>
        <p:spPr>
          <a:xfrm>
            <a:off x="2146300" y="2108200"/>
            <a:ext cx="2451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静态 SQL 聚合，易掩盖斜坡下滑，无双因子自动拆解</a:t>
            </a:r>
          </a:p>
        </p:txBody>
      </p:sp>
      <p:sp>
        <p:nvSpPr>
          <p:cNvPr id="33" name="Rect_33"/>
          <p:cNvSpPr/>
          <p:nvPr/>
        </p:nvSpPr>
        <p:spPr>
          <a:xfrm>
            <a:off x="4673600" y="2057400"/>
            <a:ext cx="285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4" name="TextBox_34"/>
          <p:cNvSpPr txBox="1"/>
          <p:nvPr/>
        </p:nvSpPr>
        <p:spPr>
          <a:xfrm>
            <a:off x="4749800" y="2108200"/>
            <a:ext cx="270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84B31"/>
                </a:solidFill>
                <a:latin typeface="Microsoft YaHei"/>
                <a:ea typeface="Microsoft YaHei"/>
              </a:rPr>
              <a:t>LLM 自由写 SQL 易平均每日比率、算错口径，结果不可复现</a:t>
            </a:r>
          </a:p>
        </p:txBody>
      </p:sp>
      <p:sp>
        <p:nvSpPr>
          <p:cNvPr id="35" name="Rect_35"/>
          <p:cNvSpPr/>
          <p:nvPr/>
        </p:nvSpPr>
        <p:spPr>
          <a:xfrm>
            <a:off x="7531100" y="2057400"/>
            <a:ext cx="4178300" cy="850900"/>
          </a:xfrm>
          <a:prstGeom prst="rect">
            <a:avLst/>
          </a:prstGeom>
          <a:solidFill>
            <a:srgbClr val="F3F8F5"/>
          </a:solidFill>
          <a:ln w="19050">
            <a:solidFill>
              <a:srgbClr val="1F6F54"/>
            </a:solidFill>
          </a:ln>
        </p:spPr>
      </p:sp>
      <p:sp>
        <p:nvSpPr>
          <p:cNvPr id="36" name="TextBox_36"/>
          <p:cNvSpPr txBox="1"/>
          <p:nvPr/>
        </p:nvSpPr>
        <p:spPr>
          <a:xfrm>
            <a:off x="7607300" y="2108200"/>
            <a:ext cx="40259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Contract-First 确定性计算：先 SUM 再算比率，区域利润/回本取门店中位数，0 算账幻觉</a:t>
            </a:r>
          </a:p>
        </p:txBody>
      </p:sp>
      <p:sp>
        <p:nvSpPr>
          <p:cNvPr id="37" name="Rect_37"/>
          <p:cNvSpPr/>
          <p:nvPr/>
        </p:nvSpPr>
        <p:spPr>
          <a:xfrm>
            <a:off x="482600" y="2908300"/>
            <a:ext cx="158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38" name="TextBox_38"/>
          <p:cNvSpPr txBox="1"/>
          <p:nvPr/>
        </p:nvSpPr>
        <p:spPr>
          <a:xfrm>
            <a:off x="558800" y="2959100"/>
            <a:ext cx="143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2. 数据缺失与可比防呆</a:t>
            </a:r>
          </a:p>
        </p:txBody>
      </p:sp>
      <p:sp>
        <p:nvSpPr>
          <p:cNvPr id="39" name="Rect_39"/>
          <p:cNvSpPr/>
          <p:nvPr/>
        </p:nvSpPr>
        <p:spPr>
          <a:xfrm>
            <a:off x="2070100" y="2908300"/>
            <a:ext cx="2603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40" name="TextBox_40"/>
          <p:cNvSpPr txBox="1"/>
          <p:nvPr/>
        </p:nvSpPr>
        <p:spPr>
          <a:xfrm>
            <a:off x="2146300" y="2959100"/>
            <a:ext cx="2451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字段断报常显示为 0，造成“无异常”的致命假阴性</a:t>
            </a:r>
          </a:p>
        </p:txBody>
      </p:sp>
      <p:sp>
        <p:nvSpPr>
          <p:cNvPr id="41" name="Rect_41"/>
          <p:cNvSpPr/>
          <p:nvPr/>
        </p:nvSpPr>
        <p:spPr>
          <a:xfrm>
            <a:off x="4673600" y="2908300"/>
            <a:ext cx="285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42" name="TextBox_42"/>
          <p:cNvSpPr txBox="1"/>
          <p:nvPr/>
        </p:nvSpPr>
        <p:spPr>
          <a:xfrm>
            <a:off x="4749800" y="2959100"/>
            <a:ext cx="270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84B31"/>
                </a:solidFill>
                <a:latin typeface="Microsoft YaHei"/>
                <a:ea typeface="Microsoft YaHei"/>
              </a:rPr>
              <a:t>样本不足或缺成本时仍强行编造回本周期与确定性根因</a:t>
            </a:r>
          </a:p>
        </p:txBody>
      </p:sp>
      <p:sp>
        <p:nvSpPr>
          <p:cNvPr id="43" name="Rect_43"/>
          <p:cNvSpPr/>
          <p:nvPr/>
        </p:nvSpPr>
        <p:spPr>
          <a:xfrm>
            <a:off x="7531100" y="2908300"/>
            <a:ext cx="4178300" cy="850900"/>
          </a:xfrm>
          <a:prstGeom prst="rect">
            <a:avLst/>
          </a:prstGeom>
          <a:solidFill>
            <a:srgbClr val="F3F8F5"/>
          </a:solidFill>
          <a:ln w="19050">
            <a:solidFill>
              <a:srgbClr val="1F6F54"/>
            </a:solidFill>
          </a:ln>
        </p:spPr>
      </p:sp>
      <p:sp>
        <p:nvSpPr>
          <p:cNvPr id="44" name="TextBox_44"/>
          <p:cNvSpPr txBox="1"/>
          <p:nvPr/>
        </p:nvSpPr>
        <p:spPr>
          <a:xfrm>
            <a:off x="7607300" y="2959100"/>
            <a:ext cx="40259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S004 缺失熔断 + 两层逐指标可比准入：少于 3 家返回 insufficient，缺租金返回 null</a:t>
            </a:r>
          </a:p>
        </p:txBody>
      </p:sp>
      <p:sp>
        <p:nvSpPr>
          <p:cNvPr id="45" name="Rect_45"/>
          <p:cNvSpPr/>
          <p:nvPr/>
        </p:nvSpPr>
        <p:spPr>
          <a:xfrm>
            <a:off x="482600" y="3759200"/>
            <a:ext cx="158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46" name="TextBox_46"/>
          <p:cNvSpPr txBox="1"/>
          <p:nvPr/>
        </p:nvSpPr>
        <p:spPr>
          <a:xfrm>
            <a:off x="558800" y="3810000"/>
            <a:ext cx="143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3. 安全边界与防幻觉</a:t>
            </a:r>
          </a:p>
        </p:txBody>
      </p:sp>
      <p:sp>
        <p:nvSpPr>
          <p:cNvPr id="47" name="Rect_47"/>
          <p:cNvSpPr/>
          <p:nvPr/>
        </p:nvSpPr>
        <p:spPr>
          <a:xfrm>
            <a:off x="2070100" y="3759200"/>
            <a:ext cx="2603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48" name="TextBox_48"/>
          <p:cNvSpPr txBox="1"/>
          <p:nvPr/>
        </p:nvSpPr>
        <p:spPr>
          <a:xfrm>
            <a:off x="2146300" y="3810000"/>
            <a:ext cx="2451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无自然语言交互，仅支持固定筛选器查询</a:t>
            </a:r>
          </a:p>
        </p:txBody>
      </p:sp>
      <p:sp>
        <p:nvSpPr>
          <p:cNvPr id="49" name="Rect_49"/>
          <p:cNvSpPr/>
          <p:nvPr/>
        </p:nvSpPr>
        <p:spPr>
          <a:xfrm>
            <a:off x="4673600" y="3759200"/>
            <a:ext cx="285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50" name="TextBox_50"/>
          <p:cNvSpPr txBox="1"/>
          <p:nvPr/>
        </p:nvSpPr>
        <p:spPr>
          <a:xfrm>
            <a:off x="4749800" y="3810000"/>
            <a:ext cx="270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84B31"/>
                </a:solidFill>
                <a:latin typeface="Microsoft YaHei"/>
                <a:ea typeface="Microsoft YaHei"/>
              </a:rPr>
              <a:t>易受 Prompt 注入越权，总结文本常夹带未查询的幻觉数字</a:t>
            </a:r>
          </a:p>
        </p:txBody>
      </p:sp>
      <p:sp>
        <p:nvSpPr>
          <p:cNvPr id="51" name="Rect_51"/>
          <p:cNvSpPr/>
          <p:nvPr/>
        </p:nvSpPr>
        <p:spPr>
          <a:xfrm>
            <a:off x="7531100" y="3759200"/>
            <a:ext cx="4178300" cy="850900"/>
          </a:xfrm>
          <a:prstGeom prst="rect">
            <a:avLst/>
          </a:prstGeom>
          <a:solidFill>
            <a:srgbClr val="F3F8F5"/>
          </a:solidFill>
          <a:ln w="19050">
            <a:solidFill>
              <a:srgbClr val="1F6F54"/>
            </a:solidFill>
          </a:ln>
        </p:spPr>
      </p:sp>
      <p:sp>
        <p:nvSpPr>
          <p:cNvPr id="52" name="TextBox_52"/>
          <p:cNvSpPr txBox="1"/>
          <p:nvPr/>
        </p:nvSpPr>
        <p:spPr>
          <a:xfrm>
            <a:off x="7607300" y="3810000"/>
            <a:ext cx="40259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7 白名单工具 + 双向护栏：拦截 SQL 注入/改阈值，collectAllowedNumbers 零幻觉校验</a:t>
            </a:r>
          </a:p>
        </p:txBody>
      </p:sp>
      <p:sp>
        <p:nvSpPr>
          <p:cNvPr id="53" name="Rect_53"/>
          <p:cNvSpPr/>
          <p:nvPr/>
        </p:nvSpPr>
        <p:spPr>
          <a:xfrm>
            <a:off x="482600" y="4610100"/>
            <a:ext cx="158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54" name="TextBox_54"/>
          <p:cNvSpPr txBox="1"/>
          <p:nvPr/>
        </p:nvSpPr>
        <p:spPr>
          <a:xfrm>
            <a:off x="558800" y="4660900"/>
            <a:ext cx="143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4. 记忆与上下文工程</a:t>
            </a:r>
          </a:p>
        </p:txBody>
      </p:sp>
      <p:sp>
        <p:nvSpPr>
          <p:cNvPr id="55" name="Rect_55"/>
          <p:cNvSpPr/>
          <p:nvPr/>
        </p:nvSpPr>
        <p:spPr>
          <a:xfrm>
            <a:off x="2070100" y="4610100"/>
            <a:ext cx="2603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56" name="TextBox_56"/>
          <p:cNvSpPr txBox="1"/>
          <p:nvPr/>
        </p:nvSpPr>
        <p:spPr>
          <a:xfrm>
            <a:off x="2146300" y="4660900"/>
            <a:ext cx="2451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无上下文记忆，每次筛选互不关联</a:t>
            </a:r>
          </a:p>
        </p:txBody>
      </p:sp>
      <p:sp>
        <p:nvSpPr>
          <p:cNvPr id="57" name="Rect_57"/>
          <p:cNvSpPr/>
          <p:nvPr/>
        </p:nvSpPr>
        <p:spPr>
          <a:xfrm>
            <a:off x="4673600" y="4610100"/>
            <a:ext cx="285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58" name="TextBox_58"/>
          <p:cNvSpPr txBox="1"/>
          <p:nvPr/>
        </p:nvSpPr>
        <p:spPr>
          <a:xfrm>
            <a:off x="4749800" y="4660900"/>
            <a:ext cx="270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84B31"/>
                </a:solidFill>
                <a:latin typeface="Microsoft YaHei"/>
                <a:ea typeface="Microsoft YaHei"/>
              </a:rPr>
              <a:t>系统提示词插值破坏缓存，用 slice(-N) 截断丢失历史</a:t>
            </a:r>
          </a:p>
        </p:txBody>
      </p:sp>
      <p:sp>
        <p:nvSpPr>
          <p:cNvPr id="59" name="Rect_59"/>
          <p:cNvSpPr/>
          <p:nvPr/>
        </p:nvSpPr>
        <p:spPr>
          <a:xfrm>
            <a:off x="7531100" y="4610100"/>
            <a:ext cx="4178300" cy="850900"/>
          </a:xfrm>
          <a:prstGeom prst="rect">
            <a:avLst/>
          </a:prstGeom>
          <a:solidFill>
            <a:srgbClr val="F3F8F5"/>
          </a:solidFill>
          <a:ln w="19050">
            <a:solidFill>
              <a:srgbClr val="1F6F54"/>
            </a:solidFill>
          </a:ln>
        </p:spPr>
      </p:sp>
      <p:sp>
        <p:nvSpPr>
          <p:cNvPr id="60" name="TextBox_60"/>
          <p:cNvSpPr txBox="1"/>
          <p:nvPr/>
        </p:nvSpPr>
        <p:spPr>
          <a:xfrm>
            <a:off x="7607300" y="4660900"/>
            <a:ext cx="40259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KV Cache 六铁律 + 三层记忆：静态前缀冻结、SHA-256 压缩复用、支持“帮它派单”指代消解</a:t>
            </a:r>
          </a:p>
        </p:txBody>
      </p:sp>
      <p:sp>
        <p:nvSpPr>
          <p:cNvPr id="61" name="Rect_61"/>
          <p:cNvSpPr/>
          <p:nvPr/>
        </p:nvSpPr>
        <p:spPr>
          <a:xfrm>
            <a:off x="482600" y="5461000"/>
            <a:ext cx="158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62" name="TextBox_62"/>
          <p:cNvSpPr txBox="1"/>
          <p:nvPr/>
        </p:nvSpPr>
        <p:spPr>
          <a:xfrm>
            <a:off x="558800" y="5511800"/>
            <a:ext cx="143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5. 触发方式与执行闭环</a:t>
            </a:r>
          </a:p>
        </p:txBody>
      </p:sp>
      <p:sp>
        <p:nvSpPr>
          <p:cNvPr id="63" name="Rect_63"/>
          <p:cNvSpPr/>
          <p:nvPr/>
        </p:nvSpPr>
        <p:spPr>
          <a:xfrm>
            <a:off x="2070100" y="5461000"/>
            <a:ext cx="2603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64" name="TextBox_64"/>
          <p:cNvSpPr txBox="1"/>
          <p:nvPr/>
        </p:nvSpPr>
        <p:spPr>
          <a:xfrm>
            <a:off x="2146300" y="5511800"/>
            <a:ext cx="2451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纯被动看图，无任务派发与效果追踪</a:t>
            </a:r>
          </a:p>
        </p:txBody>
      </p:sp>
      <p:sp>
        <p:nvSpPr>
          <p:cNvPr id="65" name="Rect_65"/>
          <p:cNvSpPr/>
          <p:nvPr/>
        </p:nvSpPr>
        <p:spPr>
          <a:xfrm>
            <a:off x="4673600" y="5461000"/>
            <a:ext cx="2857500" cy="8509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66" name="TextBox_66"/>
          <p:cNvSpPr txBox="1"/>
          <p:nvPr/>
        </p:nvSpPr>
        <p:spPr>
          <a:xfrm>
            <a:off x="4749800" y="5511800"/>
            <a:ext cx="27051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0" dirty="0">
                <a:solidFill>
                  <a:srgbClr val="C84B31"/>
                </a:solidFill>
                <a:latin typeface="Microsoft YaHei"/>
                <a:ea typeface="Microsoft YaHei"/>
              </a:rPr>
              <a:t>被动一问一答，聊完即止，无 SLA 升级与复核机制</a:t>
            </a:r>
          </a:p>
        </p:txBody>
      </p:sp>
      <p:sp>
        <p:nvSpPr>
          <p:cNvPr id="67" name="Rect_67"/>
          <p:cNvSpPr/>
          <p:nvPr/>
        </p:nvSpPr>
        <p:spPr>
          <a:xfrm>
            <a:off x="7531100" y="5461000"/>
            <a:ext cx="4178300" cy="850900"/>
          </a:xfrm>
          <a:prstGeom prst="rect">
            <a:avLst/>
          </a:prstGeom>
          <a:solidFill>
            <a:srgbClr val="F3F8F5"/>
          </a:solidFill>
          <a:ln w="19050">
            <a:solidFill>
              <a:srgbClr val="1F6F54"/>
            </a:solidFill>
          </a:ln>
        </p:spPr>
      </p:sp>
      <p:sp>
        <p:nvSpPr>
          <p:cNvPr id="68" name="TextBox_68"/>
          <p:cNvSpPr txBox="1"/>
          <p:nvPr/>
        </p:nvSpPr>
        <p:spPr>
          <a:xfrm>
            <a:off x="7607300" y="5511800"/>
            <a:ext cx="4025900" cy="7493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150" b="1" dirty="0">
                <a:solidFill>
                  <a:srgbClr val="142030"/>
                </a:solidFill>
                <a:latin typeface="Microsoft YaHei"/>
                <a:ea typeface="Microsoft YaHei"/>
              </a:rPr>
              <a:t>主动监控 Loop + 人机复核闭环：心跳离线唤醒 Agent 审计，人工确认派单并按周期复核关闭/升级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CORE ARCHITECTURE PART 1 // 04 · 五位一体前端工作台 + 确定性数据层与结构化 Wiki（A &amp; B 层）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五位一体交互工作台 × 四值规则防呆引擎 × Supabase 结构化知识 Wiki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所有金额与数量先聚合再算比率，每个指标、排名与异常结论均携带 evidence_ids、data_version 与 trace_id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00:50 - 01:10 (20秒 · P4/7)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P4 · 核心重点（一）：A &amp; B 层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核心代码：src/services/{metric_service,rule_engine,benchmark_service,region_score}.ts · data_layer/{domain_services,rule_engine,wiki}.py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47750"/>
            <a:ext cx="5511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0" name="Rect_10"/>
          <p:cNvSpPr/>
          <p:nvPr/>
        </p:nvSpPr>
        <p:spPr>
          <a:xfrm>
            <a:off x="482600" y="1047750"/>
            <a:ext cx="5511800" cy="4445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609600" y="1162050"/>
            <a:ext cx="5257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E3A5F"/>
                </a:solidFill>
                <a:latin typeface="Microsoft YaHei"/>
                <a:ea typeface="Microsoft YaHei"/>
              </a:rPr>
              <a:t>FRONTEND &amp; LOCATION SCORING // 五大共享视图与四维选址模型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1. 五页共享同一数据契约 + 区域四维加权 ROI 测算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真实核心业务指标：长春 7日总销售额 ¥1,054,000（总利润 ¥218,000）；A店/S001 退款率 7.0% vs 同城中位数 2.1%；朝阳区评分 86.5分 / 8.4个月回本（南关区缺长租成本强制返回 null）。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五大核心页面 + 双顾问入口：① 经营驾驶舱（含 21店×42天日销售斜坡序列与长春 Leaflet GIS 风险地图） ② 智能审计与同城对标 ③ 区域投放决策 ④ 经营行动中心 ⑤ “莱财”AI 经营顾问气泡 &amp; Agent 检测工作台（实时检视规划合同、KV Cache 与 API 健康度）。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销售额双因子拆解：强制将销售额波动拆解为 order_change_pct（订单数）与 aov_change_pct（客单价），避免把客流规模波动误判为客单效率问题。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区域四维评分与门店中位数 ROI 模型：按 Score = 0.35×需求 + 0.25×竞争 + 0.25×毛利 - 0.15×成本 归一化评分；区域月利润与回本周期取区域内门店中位数（防止沦为门店数量比较）。</a:t>
            </a:r>
          </a:p>
        </p:txBody>
      </p:sp>
      <p:sp>
        <p:nvSpPr>
          <p:cNvPr id="12" name="Rect_12"/>
          <p:cNvSpPr/>
          <p:nvPr/>
        </p:nvSpPr>
        <p:spPr>
          <a:xfrm>
            <a:off x="596900" y="5835650"/>
            <a:ext cx="5283200" cy="368300"/>
          </a:xfrm>
          <a:prstGeom prst="rect">
            <a:avLst/>
          </a:prstGeom>
          <a:solidFill>
            <a:srgbClr val="EFF4FA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60400" y="5873750"/>
            <a:ext cx="5156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前端零私算原则：React 前端只渲染后端契约返回的数值、单位、证据与状态标签，绝不在前端复制公式或篡改风险等级。</a:t>
            </a:r>
          </a:p>
        </p:txBody>
      </p:sp>
      <p:sp>
        <p:nvSpPr>
          <p:cNvPr id="14" name="Rect_14"/>
          <p:cNvSpPr/>
          <p:nvPr/>
        </p:nvSpPr>
        <p:spPr>
          <a:xfrm>
            <a:off x="6197600" y="1047750"/>
            <a:ext cx="5511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5" name="Rect_15"/>
          <p:cNvSpPr/>
          <p:nvPr/>
        </p:nvSpPr>
        <p:spPr>
          <a:xfrm>
            <a:off x="6197600" y="1047750"/>
            <a:ext cx="5511800" cy="44450"/>
          </a:xfrm>
          <a:prstGeom prst="rect">
            <a:avLst/>
          </a:prstGeom>
          <a:solidFill>
            <a:srgbClr val="1F6F54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6324600" y="1162050"/>
            <a:ext cx="5257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F6F54"/>
                </a:solidFill>
                <a:latin typeface="Microsoft YaHei"/>
                <a:ea typeface="Microsoft YaHei"/>
              </a:rPr>
              <a:t>DETERMINISTIC DATA LAYER &amp; WIKI // 规则状态机与三路径数据层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2. 四值防呆状态机 + 两层可比准入 + Supabase 4表 Wiki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四值规则状态机严格优先级：unavailable（有效天&lt;5 或空值&gt;20%）→ insufficient（可比店&lt;3 或仅命中1条规则）→ possible（命中≥2条且样本充足）→ none（数据完整且无异常），彻底杜绝假阴性。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S004 缺失熔断与“两层逐指标可比准入”：S004 自 10月6日起退款字段断报（空值率 33% &gt; 20%），单店审计严格触发 unavailable 熔断保护；但在同区对标时按逐指标准入保留其完整的销售/订单数据，防止朝阳区可比池跌破 min_peers = 3。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防误伤单店规则：当同区域 ≥40% 门店同步异常且离散度低时，自动标记为“区域性波动”，严禁直接归咎于单店店长。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三路径无缝切换 + Supabase 4张核心表：支持【前端内存夹具 / Python 离线服务 (--offline) / Supabase PostgreSQL】三路径；云端内置 store_operations_daily、region_market_inputs、tasks_and_traces 及 knowledge_wiki（承载 semantic_rule、sop_playbook、region_profile、historical_case 及 1536 维向量列）。</a:t>
            </a:r>
          </a:p>
        </p:txBody>
      </p:sp>
      <p:sp>
        <p:nvSpPr>
          <p:cNvPr id="17" name="Rect_17"/>
          <p:cNvSpPr/>
          <p:nvPr/>
        </p:nvSpPr>
        <p:spPr>
          <a:xfrm>
            <a:off x="6311900" y="5835650"/>
            <a:ext cx="5283200" cy="368300"/>
          </a:xfrm>
          <a:prstGeom prst="rect">
            <a:avLst/>
          </a:prstGeom>
          <a:solidFill>
            <a:srgbClr val="EEF7F4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6375400" y="5873750"/>
            <a:ext cx="5156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F6F54"/>
                </a:solidFill>
                <a:latin typeface="Microsoft YaHei"/>
                <a:ea typeface="Microsoft YaHei"/>
              </a:rPr>
              <a:t>确定性验证保障：提供 python tools/verify_local.py 与 npm run validate:contracts 自动化校验全量指标与契约 Fixture。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CORE ARCHITECTURE PART 2 // 05 · LangGraph 七层编排 + KV Cache 六大铁律 + 三层记忆与双向护栏（C 层）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LangGraph 7 节点受控状态图 × KV Cache 工程铁律 × 100% 零数值幻觉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严禁开放式裸答（disallowOpenEndedDirectAnswer = true），无 API Key 时自动启用确定性规划与模板兜底，保障离线 100% 可用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01:10 - 01:30 (20秒 · P5/7)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P5 · 核心重点（二）：C 层智能体内核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核心代码：src/agent/{definition,pattern,mechanisms,safety,orchestrator}.js · src/agent/components/{contextBuilder,memoryManager}.js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47750"/>
            <a:ext cx="3606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0" name="Rect_10"/>
          <p:cNvSpPr/>
          <p:nvPr/>
        </p:nvSpPr>
        <p:spPr>
          <a:xfrm>
            <a:off x="482600" y="1047750"/>
            <a:ext cx="3606800" cy="4445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609600" y="1162050"/>
            <a:ext cx="3352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E3A5F"/>
                </a:solidFill>
                <a:latin typeface="Microsoft YaHei"/>
                <a:ea typeface="Microsoft YaHei"/>
              </a:rPr>
              <a:t>7-LAYER &amp; 7-NODE STATEGRAPH // 架构解耦与状态机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1. 七层架构与有界重规划状态图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七层清晰解耦：① 定义层 definition.js ② 模式层 pattern.js ③ 组件层 components/* ④ 机制层 mechanisms.js ⑤ 安全层 safety.js ⑥ 编排层 orchestrator.js ⑦ 工程层 api.js &amp; traceLogger.js。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7 节点受控 StateGraph：InputGuard → Planner → ToolExecutor ⇄ EvidenceVerifier (Bounded Re-plan 最多 1 次重规划补齐同区对标) → Normal/DegradedSynthesizer → OutputGuard。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7 个白名单工具（4 读 3 写）：读工具（get_dashboard / run_audit / compare_regions / estimate_region_roi）按拓扑序执行；写工具（create_task / verify_task / write_report）必须具备用户显式授权关键词，否则降级为待确认草案。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双模高可用容灾：配置 LLM API Key 时走原生 Tool Calling；断网或未配 Key 时自动无缝降级至确定性规则规划器。</a:t>
            </a:r>
          </a:p>
        </p:txBody>
      </p:sp>
      <p:sp>
        <p:nvSpPr>
          <p:cNvPr id="12" name="Rect_12"/>
          <p:cNvSpPr/>
          <p:nvPr/>
        </p:nvSpPr>
        <p:spPr>
          <a:xfrm>
            <a:off x="596900" y="5835650"/>
            <a:ext cx="3378200" cy="368300"/>
          </a:xfrm>
          <a:prstGeom prst="rect">
            <a:avLst/>
          </a:prstGeom>
          <a:solidFill>
            <a:srgbClr val="EFF4FA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60400" y="587375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全链路可回放：每次调用生成唯一 traceId，完整记录 toolCalls、evidenceIds 与 latencyMs。</a:t>
            </a:r>
          </a:p>
        </p:txBody>
      </p:sp>
      <p:sp>
        <p:nvSpPr>
          <p:cNvPr id="14" name="Rect_14"/>
          <p:cNvSpPr/>
          <p:nvPr/>
        </p:nvSpPr>
        <p:spPr>
          <a:xfrm>
            <a:off x="4292600" y="1047750"/>
            <a:ext cx="3606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5" name="Rect_15"/>
          <p:cNvSpPr/>
          <p:nvPr/>
        </p:nvSpPr>
        <p:spPr>
          <a:xfrm>
            <a:off x="4292600" y="1047750"/>
            <a:ext cx="3606800" cy="44450"/>
          </a:xfrm>
          <a:prstGeom prst="rect">
            <a:avLst/>
          </a:prstGeom>
          <a:solidFill>
            <a:srgbClr val="5B4B8A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4419600" y="1162050"/>
            <a:ext cx="3352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5B4B8A"/>
                </a:solidFill>
                <a:latin typeface="Microsoft YaHei"/>
                <a:ea typeface="Microsoft YaHei"/>
              </a:rPr>
              <a:t>KV CACHE &amp; 3-TIER MEMORY // 上下文工程与记忆架构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2. KV Cache 六铁律 + 三层记忆体系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5B4B8A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铁律 1-2（静态前缀零插值 &amp; Schema 冻结）：STATIC_SYSTEM_MESSAGE 与 7 个工具 JSON Schema 启动时 Object.freeze，严禁在系统提示词中拼接时间戳或动态会话变量。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5B4B8A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铁律 3-4（Append-Only &amp; 标准四角色）：严格遵循 system -&gt; user -&gt; assistant(tool_calls) -&gt; tool(tool_call_id) 追加模型，绝不原地篡改历史消息。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5B4B8A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铁律 5-6（SHA-256 持久化摘要压缩 &amp; 命中追踪）：严禁使用 .slice(-N) 滑动窗口截断（每轮改变首条消息会彻底击穿 KV Cache）；超阈值时执行带 SHA-256 哈希缓存的 compactMessagesIfNeeded，并实时监控 cached_tokens。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5B4B8A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LangGraph 三层记忆与指代消解：① 工作记忆 AgentStateAnnotation ② 线程短期记忆 MemorySaver + 实体槽位（lastDeviceId/lastRegionIds/lastTaskId）③ 跨会话长期记忆 InMemoryStore，完美支持“那帮它创建一个整改任务”跨轮次指代。</a:t>
            </a:r>
          </a:p>
        </p:txBody>
      </p:sp>
      <p:sp>
        <p:nvSpPr>
          <p:cNvPr id="17" name="Rect_17"/>
          <p:cNvSpPr/>
          <p:nvPr/>
        </p:nvSpPr>
        <p:spPr>
          <a:xfrm>
            <a:off x="4406900" y="5835650"/>
            <a:ext cx="3378200" cy="368300"/>
          </a:xfrm>
          <a:prstGeom prst="rect">
            <a:avLst/>
          </a:prstGeom>
          <a:solidFill>
            <a:srgbClr val="F3F0FA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4470400" y="587375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5B4B8A"/>
                </a:solidFill>
                <a:latin typeface="Microsoft YaHei"/>
                <a:ea typeface="Microsoft YaHei"/>
              </a:rPr>
              <a:t>工程收益：大幅降低多轮对话首字延迟（TTFT）与 Token 成本，同时保持上下文连贯。</a:t>
            </a:r>
          </a:p>
        </p:txBody>
      </p:sp>
      <p:sp>
        <p:nvSpPr>
          <p:cNvPr id="19" name="Rect_19"/>
          <p:cNvSpPr/>
          <p:nvPr/>
        </p:nvSpPr>
        <p:spPr>
          <a:xfrm>
            <a:off x="8102600" y="1047750"/>
            <a:ext cx="3606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0" name="Rect_20"/>
          <p:cNvSpPr/>
          <p:nvPr/>
        </p:nvSpPr>
        <p:spPr>
          <a:xfrm>
            <a:off x="8102600" y="1047750"/>
            <a:ext cx="3606800" cy="4445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21" name="TextBox_21"/>
          <p:cNvSpPr txBox="1"/>
          <p:nvPr/>
        </p:nvSpPr>
        <p:spPr>
          <a:xfrm>
            <a:off x="8229600" y="1162050"/>
            <a:ext cx="3352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C84B31"/>
                </a:solidFill>
                <a:latin typeface="Microsoft YaHei"/>
                <a:ea typeface="Microsoft YaHei"/>
              </a:rPr>
              <a:t>BIDIRECTIONAL GUARDRAILS // 安全护栏与业务脱敏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3. 双向安全护栏 + 0 幻觉数值校验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输入护栏（InputGuard）：正则拦截 SQL 注入（DROP TABLE）、Prompt 越权（ignore previous instructions）、系统提示词刺探、篡改规则阈值及自动改价/自动打款等高危指令。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输出数值白名单校验（collectAllowedNumbers）：递归提取当轮工具返回 JSON 中的所有合法数字与百分比；若 LLM 总结中出现任何不在白名单内的未授权数字，立即拦截并回退至确定性证据模板，实现 100% 零数值幻觉。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证据完备性校验（EvidenceVerifier）：当可比门店不足 3 家或关键字段缺失时，强制路由至 DegradedSynthesizer，严禁输出确定性根因或武断指责词汇。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全业务化脱敏与思考流可视化：对最终用户严禁暴露内部函数名/字段名，同时输出类 Antigravity 风格的 thinkingSteps 折叠思考链路。</a:t>
            </a:r>
          </a:p>
        </p:txBody>
      </p:sp>
      <p:sp>
        <p:nvSpPr>
          <p:cNvPr id="22" name="Rect_22"/>
          <p:cNvSpPr/>
          <p:nvPr/>
        </p:nvSpPr>
        <p:spPr>
          <a:xfrm>
            <a:off x="8216900" y="5835650"/>
            <a:ext cx="3378200" cy="368300"/>
          </a:xfrm>
          <a:prstGeom prst="rect">
            <a:avLst/>
          </a:prstGeom>
          <a:solidFill>
            <a:srgbClr val="FDF2F0"/>
          </a:solidFill>
          <a:ln>
            <a:noFill/>
          </a:ln>
        </p:spPr>
      </p:sp>
      <p:sp>
        <p:nvSpPr>
          <p:cNvPr id="23" name="TextBox_23"/>
          <p:cNvSpPr txBox="1"/>
          <p:nvPr/>
        </p:nvSpPr>
        <p:spPr>
          <a:xfrm>
            <a:off x="8280400" y="587375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安全验证：npm run test:agent 全自动通过单轮、多轮指代、越权拦截与数值防幻觉测试。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CORE ARCHITECTURE PART 3 // 06 · 人机协同任务复核闭环 + IoT 主动监控告警闭环（Dual Closed-Loop Engines）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不止于“问答”：把每一次异常诊断转化为可追责、可升级、可复核的闭环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一条链路面向“运营决策执行与周期复核”，一条链路面向“7×24h 设备心跳监控与自动唤醒审计”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01:30 - 01:48 (18秒 · P6/7)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P6 · 核心重点（三）：双闭环落地引擎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核心代码：src/agent/monitorLoop.js · src/AgentLoopPanel.jsx · scripts/verify-monitor-loop.mjs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47750"/>
            <a:ext cx="5511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0" name="Rect_10"/>
          <p:cNvSpPr/>
          <p:nvPr/>
        </p:nvSpPr>
        <p:spPr>
          <a:xfrm>
            <a:off x="482600" y="1047750"/>
            <a:ext cx="5511800" cy="44450"/>
          </a:xfrm>
          <a:prstGeom prst="rect">
            <a:avLst/>
          </a:prstGeom>
          <a:solidFill>
            <a:srgbClr val="1F6F54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609600" y="1162050"/>
            <a:ext cx="5257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F6F54"/>
                </a:solidFill>
                <a:latin typeface="Microsoft YaHei"/>
                <a:ea typeface="Microsoft YaHei"/>
              </a:rPr>
              <a:t>HUMAN-IN-THE-LOOP ACTION VERIFICATION // 经营行动与复核闭环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1. 审批卡确认 → 幂等建单 → 下一周期指标复核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状态流转：decisionProposal (待确认草案) → open → assigned → investigating → verifying → closed (达标关闭) / escalated (未达标升级)。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人机协同审批卡（Human-in-the-Loop）：当用户未显式下达写指令时，Agent 自动生成包含同行对标摘要（peerSummary）、预期挽回收益（expectedImpact）与紧急度的待确认行动卡，需人工点击“确认转化”后才真正落库。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幂等键防重（Idempotency Key）：POST /api/v1/tasks/from-recommendation 通过 idempotencyKey 保证同一建议绝不重复建单，自动绑定 assignee、dueAt 与 evidenceIds。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下一周期自动复核（verify_task）：以朝阳 A 店为例，复核目标设定为“下一周期 refund_rate 回落至同城中位数 + 2.0% 以内”；达标自动流转为 closed，未达标自动触发 escalated 升级督办。</a:t>
            </a:r>
          </a:p>
        </p:txBody>
      </p:sp>
      <p:sp>
        <p:nvSpPr>
          <p:cNvPr id="12" name="Rect_12"/>
          <p:cNvSpPr/>
          <p:nvPr/>
        </p:nvSpPr>
        <p:spPr>
          <a:xfrm>
            <a:off x="596900" y="5835650"/>
            <a:ext cx="5283200" cy="368300"/>
          </a:xfrm>
          <a:prstGeom prst="rect">
            <a:avLst/>
          </a:prstGeom>
          <a:solidFill>
            <a:srgbClr val="EEF7F4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60400" y="5873750"/>
            <a:ext cx="5156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F6F54"/>
                </a:solidFill>
                <a:latin typeface="Microsoft YaHei"/>
                <a:ea typeface="Microsoft YaHei"/>
              </a:rPr>
              <a:t>真实闭环示例：task_001（抽查 A 店最近 20 笔退款订单）→ 负责人：长春朝阳区域经理 → 期限：24h → 复核指标：refund_rate</a:t>
            </a:r>
          </a:p>
        </p:txBody>
      </p:sp>
      <p:sp>
        <p:nvSpPr>
          <p:cNvPr id="14" name="Rect_14"/>
          <p:cNvSpPr/>
          <p:nvPr/>
        </p:nvSpPr>
        <p:spPr>
          <a:xfrm>
            <a:off x="6197600" y="1047750"/>
            <a:ext cx="5511800" cy="52705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5" name="Rect_15"/>
          <p:cNvSpPr/>
          <p:nvPr/>
        </p:nvSpPr>
        <p:spPr>
          <a:xfrm>
            <a:off x="6197600" y="1047750"/>
            <a:ext cx="5511800" cy="4445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6324600" y="1162050"/>
            <a:ext cx="5257800" cy="46355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C84B31"/>
                </a:solidFill>
                <a:latin typeface="Microsoft YaHei"/>
                <a:ea typeface="Microsoft YaHei"/>
              </a:rPr>
              <a:t>PROACTIVE IOT MONITOR LOOP // 设备心跳主动监控与自唤醒审计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2. 无需人工提问：设备离线自动唤醒 Agent 预审计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状态流转：detected (2min超时去重) → alerted (5min通知+唤醒Agent) → acknowledged (负责人确认) → escalated (15min未确认升级) → resolved (设备恢复结案)。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去重检测与分级 SLA 升级：后台独立运行心跳巡检，按 device-offline:{deviceId} 严格去重；离线满 5 分钟发送首次负责人通知（alerted），满 15 分钟仍未确认自动发送升级通知（escalated）。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无人工干预自动唤醒 Agent 审计：进入 alerted 阶段后，监控引擎自动异步调用 Agent 审计链路（runAgentTurn），将诊断摘要保存至告警的 agentSummary、agentFindings 与 agentTraceId 中。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三通道异步通知 + 状态持久化恢复：内置【站内通知列表 + 外部 Webhook JSON 推送 + QQ 邮箱 SSL SMTP (smtp.qq.com:465)】三通道适配器；状态实时写入 tmp/agent-monitor-state.json，服务重启零丢失。</a:t>
            </a:r>
          </a:p>
        </p:txBody>
      </p:sp>
      <p:sp>
        <p:nvSpPr>
          <p:cNvPr id="17" name="Rect_17"/>
          <p:cNvSpPr/>
          <p:nvPr/>
        </p:nvSpPr>
        <p:spPr>
          <a:xfrm>
            <a:off x="6311900" y="5835650"/>
            <a:ext cx="5283200" cy="368300"/>
          </a:xfrm>
          <a:prstGeom prst="rect">
            <a:avLst/>
          </a:prstGeom>
          <a:solidFill>
            <a:srgbClr val="FDF2F0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6375400" y="5873750"/>
            <a:ext cx="5156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回归测试保障：npm run test:monitor-loop 全面覆盖去重、5min通知、15min升级、确认、恢复与重启持久化。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</p:sp>
      <p:sp>
        <p:nvSpPr>
          <p:cNvPr id="3" name="TextBox_3"/>
          <p:cNvSpPr txBox="1"/>
          <p:nvPr/>
        </p:nvSpPr>
        <p:spPr>
          <a:xfrm>
            <a:off x="482600" y="203200"/>
            <a:ext cx="8636000" cy="711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FUTURE EXPANSION VISION // 07 · 三阶段演进蓝图（Roadmap &amp; Scalability）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lang="zh-CN" altLang="en-US" sz="2250" b="1" dirty="0">
                <a:solidFill>
                  <a:srgbClr val="142030"/>
                </a:solidFill>
                <a:latin typeface="Microsoft YaHei"/>
                <a:ea typeface="Microsoft YaHei"/>
              </a:rPr>
              <a:t>从“契约驱动的经营审计平台”演进为“自进化的全域无人零售经营大脑”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当前模块化单体与冻结契约已预留完整的 OIDC 租户上下文、外部数据适配器与 pgvector(1536) 向量检索接口</a:t>
            </a:r>
          </a:p>
        </p:txBody>
      </p:sp>
      <p:sp>
        <p:nvSpPr>
          <p:cNvPr id="4" name="TextBox_4"/>
          <p:cNvSpPr txBox="1"/>
          <p:nvPr/>
        </p:nvSpPr>
        <p:spPr>
          <a:xfrm>
            <a:off x="9398000" y="254000"/>
            <a:ext cx="2311400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  <p:txBody>
          <a:bodyPr wrap="square" lIns="50800" tIns="38100" rIns="50800" bIns="38100" anchor="ctr"/>
          <a:lstStyle/>
          <a:p>
            <a:pPr algn="ctr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⏱ 01:48 - 02:00 (12秒 · P7/7)</a:t>
            </a:r>
          </a:p>
        </p:txBody>
      </p:sp>
      <p:sp>
        <p:nvSpPr>
          <p:cNvPr id="5" name="Rect_5"/>
          <p:cNvSpPr/>
          <p:nvPr/>
        </p:nvSpPr>
        <p:spPr>
          <a:xfrm>
            <a:off x="482600" y="927100"/>
            <a:ext cx="11226800" cy="12700"/>
          </a:xfrm>
          <a:prstGeom prst="rect">
            <a:avLst/>
          </a:prstGeom>
          <a:solidFill>
            <a:srgbClr val="142030"/>
          </a:solidFill>
          <a:ln>
            <a:noFill/>
          </a:ln>
        </p:spPr>
      </p:sp>
      <p:sp>
        <p:nvSpPr>
          <p:cNvPr id="6" name="Rect_6"/>
          <p:cNvSpPr/>
          <p:nvPr/>
        </p:nvSpPr>
        <p:spPr>
          <a:xfrm>
            <a:off x="482600" y="6438900"/>
            <a:ext cx="11226800" cy="9525"/>
          </a:xfrm>
          <a:prstGeom prst="rect">
            <a:avLst/>
          </a:prstGeom>
          <a:solidFill>
            <a:srgbClr val="DCD6C8"/>
          </a:solidFill>
          <a:ln>
            <a:noFill/>
          </a:ln>
        </p:spPr>
      </p:sp>
      <p:sp>
        <p:nvSpPr>
          <p:cNvPr id="7" name="TextBox_7"/>
          <p:cNvSpPr txBox="1"/>
          <p:nvPr/>
        </p:nvSpPr>
        <p:spPr>
          <a:xfrm>
            <a:off x="482600" y="6489700"/>
            <a:ext cx="482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1" dirty="0">
                <a:solidFill>
                  <a:srgbClr val="1E3A5F"/>
                </a:solidFill>
                <a:latin typeface="Microsoft YaHei"/>
                <a:ea typeface="Microsoft YaHei"/>
              </a:rPr>
              <a:t>莱森购 Retail Intelligence Agent  |  P7 · 未来扩展愿景（2分钟路演完毕）</a:t>
            </a:r>
          </a:p>
        </p:txBody>
      </p:sp>
      <p:sp>
        <p:nvSpPr>
          <p:cNvPr id="8" name="TextBox_8"/>
          <p:cNvSpPr txBox="1"/>
          <p:nvPr/>
        </p:nvSpPr>
        <p:spPr>
          <a:xfrm>
            <a:off x="5397500" y="6489700"/>
            <a:ext cx="63119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28000"/>
              </a:lnSpc>
              <a:spcAft>
                <a:spcPts val="400"/>
              </a:spcAft>
            </a:pPr>
            <a:r>
              <a:rPr lang="zh-CN" altLang="en-US" sz="1000" b="0" dirty="0">
                <a:solidFill>
                  <a:srgbClr val="6C7A8C"/>
                </a:solidFill>
                <a:latin typeface="Microsoft YaHei"/>
                <a:ea typeface="Microsoft YaHei"/>
              </a:rPr>
              <a:t>一键验证命令：npm run validate:contracts | npm run test:agent | npm run test:monitor-loop | python tools/verify_local.py</a:t>
            </a:r>
          </a:p>
        </p:txBody>
      </p:sp>
      <p:sp>
        <p:nvSpPr>
          <p:cNvPr id="9" name="Rect_9"/>
          <p:cNvSpPr/>
          <p:nvPr/>
        </p:nvSpPr>
        <p:spPr>
          <a:xfrm>
            <a:off x="482600" y="1047750"/>
            <a:ext cx="3606800" cy="4222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0" name="Rect_10"/>
          <p:cNvSpPr/>
          <p:nvPr/>
        </p:nvSpPr>
        <p:spPr>
          <a:xfrm>
            <a:off x="482600" y="1047750"/>
            <a:ext cx="3606800" cy="44450"/>
          </a:xfrm>
          <a:prstGeom prst="rect">
            <a:avLst/>
          </a:prstGeom>
          <a:solidFill>
            <a:srgbClr val="1E3A5F"/>
          </a:solidFill>
          <a:ln>
            <a:noFill/>
          </a:ln>
        </p:spPr>
      </p:sp>
      <p:sp>
        <p:nvSpPr>
          <p:cNvPr id="11" name="TextBox_11"/>
          <p:cNvSpPr txBox="1"/>
          <p:nvPr/>
        </p:nvSpPr>
        <p:spPr>
          <a:xfrm>
            <a:off x="609600" y="1162050"/>
            <a:ext cx="3352800" cy="3587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E3A5F"/>
                </a:solidFill>
                <a:latin typeface="Microsoft YaHei"/>
                <a:ea typeface="Microsoft YaHei"/>
              </a:rPr>
              <a:t>PHASE 01 · 生产级多租户底座 (1-3个月)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连接真实世界：实时数仓、边缘网关与多租户安全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真实 IoT 边缘网关与实时数仓接入：将主动监控入口对接鉴权后的智能货柜 MQTT/边缘网关，数据层平滑切换至企业 ERP/POS 实时数仓。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OIDC 认证与 PostgreSQL RLS 多租户隔离：落地 TECHNICAL_ARCHITECTURE.md 规划的 OIDC/OAuth2 登录，由后端注入 tenant_id、user_id 与区域权限，开启行级安全策略。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E3A5F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Redis 分布式幂等锁与企微/飞书卡片：将进程内幂等控制升级为 Redis 分布式锁，Webhook 适配器对接企业微信与飞书交互式审批卡片。</a:t>
            </a:r>
          </a:p>
        </p:txBody>
      </p:sp>
      <p:sp>
        <p:nvSpPr>
          <p:cNvPr id="12" name="Rect_12"/>
          <p:cNvSpPr/>
          <p:nvPr/>
        </p:nvSpPr>
        <p:spPr>
          <a:xfrm>
            <a:off x="596900" y="4787900"/>
            <a:ext cx="3378200" cy="368300"/>
          </a:xfrm>
          <a:prstGeom prst="rect">
            <a:avLst/>
          </a:prstGeom>
          <a:solidFill>
            <a:srgbClr val="EFF4FA"/>
          </a:solidFill>
          <a:ln>
            <a:noFill/>
          </a:ln>
        </p:spPr>
      </p:sp>
      <p:sp>
        <p:nvSpPr>
          <p:cNvPr id="13" name="TextBox_13"/>
          <p:cNvSpPr txBox="1"/>
          <p:nvPr/>
        </p:nvSpPr>
        <p:spPr>
          <a:xfrm>
            <a:off x="660400" y="48260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E3A5F"/>
                </a:solidFill>
                <a:latin typeface="Microsoft YaHei"/>
                <a:ea typeface="Microsoft YaHei"/>
              </a:rPr>
              <a:t>阶段里程碑：零代码改动前端契约，完成从本地/云端 Demo 到千台智能柜生产环境上线</a:t>
            </a:r>
          </a:p>
        </p:txBody>
      </p:sp>
      <p:sp>
        <p:nvSpPr>
          <p:cNvPr id="14" name="Rect_14"/>
          <p:cNvSpPr/>
          <p:nvPr/>
        </p:nvSpPr>
        <p:spPr>
          <a:xfrm>
            <a:off x="4292600" y="1047750"/>
            <a:ext cx="3606800" cy="4222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15" name="Rect_15"/>
          <p:cNvSpPr/>
          <p:nvPr/>
        </p:nvSpPr>
        <p:spPr>
          <a:xfrm>
            <a:off x="4292600" y="1047750"/>
            <a:ext cx="3606800" cy="44450"/>
          </a:xfrm>
          <a:prstGeom prst="rect">
            <a:avLst/>
          </a:prstGeom>
          <a:solidFill>
            <a:srgbClr val="C84B31"/>
          </a:solidFill>
          <a:ln>
            <a:noFill/>
          </a:ln>
        </p:spPr>
      </p:sp>
      <p:sp>
        <p:nvSpPr>
          <p:cNvPr id="16" name="TextBox_16"/>
          <p:cNvSpPr txBox="1"/>
          <p:nvPr/>
        </p:nvSpPr>
        <p:spPr>
          <a:xfrm>
            <a:off x="4419600" y="1162050"/>
            <a:ext cx="3352800" cy="3587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C84B31"/>
                </a:solidFill>
                <a:latin typeface="Microsoft YaHei"/>
                <a:ea typeface="Microsoft YaHei"/>
              </a:rPr>
              <a:t>PHASE 02 · 多模态与全域经营扩维 (3-6个月)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看得更全：视觉货柜巡检 + 库存/会员/营销/人效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边缘多模态视觉审计（Vision Audit）：在数据契约稳定基础上，接入智能柜摄像头视觉模型，自动识别货道缺货、陈列错放、冷链结霜与异常开门。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四大业务域指标横向扩展：在销售与退款之上，新增库存周转与缺货损失、会员复购分层、促销活动弹性以及补货员路径与人效对标工具。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C84B31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外部时空与竞品适配器：接入高德/百度 POI 客流热力、天气突变与周边竞品点位动态接口，提升区域选址 ROI 模型的时空灵敏度。</a:t>
            </a:r>
          </a:p>
        </p:txBody>
      </p:sp>
      <p:sp>
        <p:nvSpPr>
          <p:cNvPr id="17" name="Rect_17"/>
          <p:cNvSpPr/>
          <p:nvPr/>
        </p:nvSpPr>
        <p:spPr>
          <a:xfrm>
            <a:off x="4406900" y="4787900"/>
            <a:ext cx="3378200" cy="368300"/>
          </a:xfrm>
          <a:prstGeom prst="rect">
            <a:avLst/>
          </a:prstGeom>
          <a:solidFill>
            <a:srgbClr val="FDF2F0"/>
          </a:solidFill>
          <a:ln>
            <a:noFill/>
          </a:ln>
        </p:spPr>
      </p:sp>
      <p:sp>
        <p:nvSpPr>
          <p:cNvPr id="18" name="TextBox_18"/>
          <p:cNvSpPr txBox="1"/>
          <p:nvPr/>
        </p:nvSpPr>
        <p:spPr>
          <a:xfrm>
            <a:off x="4470400" y="48260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C84B31"/>
                </a:solidFill>
                <a:latin typeface="Microsoft YaHei"/>
                <a:ea typeface="Microsoft YaHei"/>
              </a:rPr>
              <a:t>阶段里程碑：从“事后交易数据审计”扩展为“交易 + 库存 + 视觉 + 时空”的全维实时感知</a:t>
            </a:r>
          </a:p>
        </p:txBody>
      </p:sp>
      <p:sp>
        <p:nvSpPr>
          <p:cNvPr id="19" name="Rect_19"/>
          <p:cNvSpPr/>
          <p:nvPr/>
        </p:nvSpPr>
        <p:spPr>
          <a:xfrm>
            <a:off x="8102600" y="1047750"/>
            <a:ext cx="3606800" cy="422275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6C8"/>
            </a:solidFill>
          </a:ln>
        </p:spPr>
      </p:sp>
      <p:sp>
        <p:nvSpPr>
          <p:cNvPr id="20" name="Rect_20"/>
          <p:cNvSpPr/>
          <p:nvPr/>
        </p:nvSpPr>
        <p:spPr>
          <a:xfrm>
            <a:off x="8102600" y="1047750"/>
            <a:ext cx="3606800" cy="44450"/>
          </a:xfrm>
          <a:prstGeom prst="rect">
            <a:avLst/>
          </a:prstGeom>
          <a:solidFill>
            <a:srgbClr val="1F6F54"/>
          </a:solidFill>
          <a:ln>
            <a:noFill/>
          </a:ln>
        </p:spPr>
      </p:sp>
      <p:sp>
        <p:nvSpPr>
          <p:cNvPr id="21" name="TextBox_21"/>
          <p:cNvSpPr txBox="1"/>
          <p:nvPr/>
        </p:nvSpPr>
        <p:spPr>
          <a:xfrm>
            <a:off x="8229600" y="1162050"/>
            <a:ext cx="3352800" cy="35877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980" b="1" dirty="0">
                <a:solidFill>
                  <a:srgbClr val="1F6F54"/>
                </a:solidFill>
                <a:latin typeface="Microsoft YaHei"/>
                <a:ea typeface="Microsoft YaHei"/>
              </a:rPr>
              <a:t>PHASE 03 · 向量检索与自进化大脑 (6-12个月)</a:t>
            </a:r>
          </a:p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lang="zh-CN" altLang="en-US" sz="1550" b="1" dirty="0">
                <a:solidFill>
                  <a:srgbClr val="142030"/>
                </a:solidFill>
                <a:latin typeface="Microsoft YaHei"/>
                <a:ea typeface="Microsoft YaHei"/>
              </a:rPr>
              <a:t>越用越准：pgvector 经验召回 + 复核结果强化调优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全面激活 pgvector(1536) 混合检索：启用 knowledge_wiki 表已预留的 embedding vector(1536) 列，将每次 closed 的成功案件沉淀为向量化历史经验自动召回。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基于复核结果的策略权重闭环校准：利用 verify_task 积累的“行动建议 → 下一周期真实改善幅度”闭环数据，自动校准风险排序权重与 ROI 参数。</a:t>
            </a:r>
          </a:p>
          <a:p>
            <a:pPr algn="l">
              <a:lnSpc>
                <a:spcPct val="128000"/>
              </a:lnSpc>
              <a:spcAft>
                <a:spcPts val="500"/>
              </a:spcAft>
            </a:pPr>
            <a:r>
              <a:rPr lang="zh-CN" altLang="en-US" sz="1150" b="1" dirty="0">
                <a:solidFill>
                  <a:srgbClr val="1F6F54"/>
                </a:solidFill>
                <a:latin typeface="Microsoft YaHei"/>
                <a:ea typeface="Microsoft YaHei"/>
              </a:rPr>
              <a:t>▪ </a:t>
            </a:r>
            <a:r>
              <a:rPr lang="zh-CN" altLang="en-US" sz="1150" b="0" dirty="0">
                <a:solidFill>
                  <a:srgbClr val="3E4E63"/>
                </a:solidFill>
                <a:latin typeface="Microsoft YaHei"/>
                <a:ea typeface="Microsoft YaHei"/>
              </a:rPr>
              <a:t>受契约约束的多 Agent 协同网络：演进为“巡检审计 Agent + 供应链补货 Agent + 动态定价与选址 Agent”多智能体协同。</a:t>
            </a:r>
          </a:p>
        </p:txBody>
      </p:sp>
      <p:sp>
        <p:nvSpPr>
          <p:cNvPr id="22" name="Rect_22"/>
          <p:cNvSpPr/>
          <p:nvPr/>
        </p:nvSpPr>
        <p:spPr>
          <a:xfrm>
            <a:off x="8216900" y="4787900"/>
            <a:ext cx="3378200" cy="368300"/>
          </a:xfrm>
          <a:prstGeom prst="rect">
            <a:avLst/>
          </a:prstGeom>
          <a:solidFill>
            <a:srgbClr val="EEF7F4"/>
          </a:solidFill>
          <a:ln>
            <a:noFill/>
          </a:ln>
        </p:spPr>
      </p:sp>
      <p:sp>
        <p:nvSpPr>
          <p:cNvPr id="23" name="TextBox_23"/>
          <p:cNvSpPr txBox="1"/>
          <p:nvPr/>
        </p:nvSpPr>
        <p:spPr>
          <a:xfrm>
            <a:off x="8280400" y="4826000"/>
            <a:ext cx="3251200" cy="29210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050" b="1" dirty="0">
                <a:solidFill>
                  <a:srgbClr val="1F6F54"/>
                </a:solidFill>
                <a:latin typeface="Microsoft YaHei"/>
                <a:ea typeface="Microsoft YaHei"/>
              </a:rPr>
              <a:t>阶段里程碑：构建“每次复核都在让系统更聪明”的无人零售经营自进化飞轮</a:t>
            </a:r>
          </a:p>
        </p:txBody>
      </p:sp>
      <p:sp>
        <p:nvSpPr>
          <p:cNvPr id="24" name="Rect_24"/>
          <p:cNvSpPr/>
          <p:nvPr/>
        </p:nvSpPr>
        <p:spPr>
          <a:xfrm>
            <a:off x="482600" y="5397500"/>
            <a:ext cx="11226800" cy="920750"/>
          </a:xfrm>
          <a:prstGeom prst="rect">
            <a:avLst/>
          </a:prstGeom>
          <a:solidFill>
            <a:srgbClr val="142030"/>
          </a:solidFill>
          <a:ln w="12700">
            <a:solidFill>
              <a:srgbClr val="1E3A5F"/>
            </a:solidFill>
          </a:ln>
        </p:spPr>
      </p:sp>
      <p:sp>
        <p:nvSpPr>
          <p:cNvPr id="25" name="TextBox_25"/>
          <p:cNvSpPr txBox="1"/>
          <p:nvPr/>
        </p:nvSpPr>
        <p:spPr>
          <a:xfrm>
            <a:off x="660400" y="5499100"/>
            <a:ext cx="10871200" cy="730250"/>
          </a:xfrm>
          <a:prstGeom prst="rect">
            <a:avLst/>
          </a:prstGeom>
          <a:noFill/>
          <a:ln>
            <a:noFill/>
          </a:ln>
        </p:spPr>
        <p:txBody>
          <a:bodyPr wrap="square" lIns="50800" tIns="38100" rIns="50800" bIns="38100" anchor="ctr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lang="zh-CN" altLang="en-US" sz="1700" b="1" dirty="0">
                <a:solidFill>
                  <a:srgbClr val="FFFFFF"/>
                </a:solidFill>
                <a:latin typeface="Microsoft YaHei"/>
                <a:ea typeface="Microsoft YaHei"/>
              </a:rPr>
              <a:t>🎯 莱森购 Retail Intelligence Agent · 让每一次无人零售经营决策都有据可查、有果必验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lang="zh-CN" altLang="en-US" sz="1250" b="1" dirty="0">
                <a:solidFill>
                  <a:srgbClr val="34D399"/>
                </a:solidFill>
                <a:latin typeface="Microsoft YaHei"/>
                <a:ea typeface="Microsoft YaHei"/>
              </a:rPr>
              <a:t>Contract-First 确定性底座 × 四值防呆规则引擎 × LangGraph 七层受控编排 × KV Cache 六铁律 × 主动监控与人工复核双闭环     |     THANK YOU //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isenTheme">
  <a:themeElements>
    <a:clrScheme name="LaisenColors">
      <a:dk1>
        <a:srgbClr val="142030"/>
      </a:dk1>
      <a:lt1>
        <a:srgbClr val="FFFFFF"/>
      </a:lt1>
      <a:dk2>
        <a:srgbClr val="1E3A5F"/>
      </a:dk2>
      <a:lt2>
        <a:srgbClr val="F6F3EC"/>
      </a:lt2>
      <a:accent1>
        <a:srgbClr val="1E3A5F"/>
      </a:accent1>
      <a:accent2>
        <a:srgbClr val="C84B31"/>
      </a:accent2>
      <a:accent3>
        <a:srgbClr val="1F6F54"/>
      </a:accent3>
      <a:accent4>
        <a:srgbClr val="D97706"/>
      </a:accent4>
      <a:accent5>
        <a:srgbClr val="5B4B8A"/>
      </a:accent5>
      <a:accent6>
        <a:srgbClr val="3E4E63"/>
      </a:accent6>
      <a:hlink>
        <a:srgbClr val="1E3A5F"/>
      </a:hlink>
      <a:folHlink>
        <a:srgbClr val="1E3A5F"/>
      </a:folHlink>
    </a:clrScheme>
    <a:fontScheme name="LaisenFonts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LaisenFm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