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1"/>
  </p:sldMasterIdLst>
  <p:notesMasterIdLst>
    <p:notesMasterId r:id="rIdNotesMaster1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</p:sldIdLst>
  <p:sldSz cx="12192000" cy="6858000" type="custom"/>
  <p:notesSz cx="6858000" cy="12192000"/>
</p:presentation>
</file>

<file path=ppt/presProps.xml><?xml version="1.0" encoding="utf-8"?>
<p:presProps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ops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NotesMaster1" Type="http://schemas.openxmlformats.org/officeDocument/2006/relationships/notesMaster" Target="notesMasters/notesMaster1.xml"/>
  <Relationship Id="rIdTheme1" Type="http://schemas.openxmlformats.org/officeDocument/2006/relationships/theme" Target="theme/theme1.xml"/>
  <Relationship Id="rIdPresProps" Type="http://schemas.openxmlformats.org/officeDocument/2006/relationships/presProps" Target="presProps.xml"/>
  <Relationship Id="rIdViewProps" Type="http://schemas.openxmlformats.org/officeDocument/2006/relationships/viewProps" Target="viewProps.xml"/>
  <Relationship Id="rIdTableStyles" Type="http://schemas.openxmlformats.org/officeDocument/2006/relationships/tableStyles" Target="tableStyles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</Relationships>
</file>

<file path=ppt/notesMasters/_rels/notesMaster1.xml.rels><?xml version="1.0" encoding="UTF-8" standalone="yes"?>
<Relationships xmlns="http://schemas.openxmlformats.org/package/2006/relationships">
  <Relationship Id="rIdTheme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  <Relationship Id="rIdSlide1" Type="http://schemas.openxmlformats.org/officeDocument/2006/relationships/slide" Target="../slides/slide1.xml"/>
  <Relationship Id="rIdNotesMaster1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  <Relationship Id="rIdSlide2" Type="http://schemas.openxmlformats.org/officeDocument/2006/relationships/slide" Target="../slides/slide2.xml"/>
  <Relationship Id="rIdNotesMaster1" Type="http://schemas.openxmlformats.org/officeDocument/2006/relationships/notesMaster" Target="../notesMasters/notesMaster1.xml"/>
</Relationships>
</file>

<file path=ppt/notesSlides/_rels/notesSlide3.xml.rels><?xml version="1.0" encoding="UTF-8" standalone="yes"?>
<Relationships xmlns="http://schemas.openxmlformats.org/package/2006/relationships">
  <Relationship Id="rIdSlide3" Type="http://schemas.openxmlformats.org/officeDocument/2006/relationships/slide" Target="../slides/slide3.xml"/>
  <Relationship Id="rIdNotesMaster1" Type="http://schemas.openxmlformats.org/officeDocument/2006/relationships/notesMaster" Target="../notesMasters/notesMaster1.xml"/>
</Relationships>
</file>

<file path=ppt/notesSlides/_rels/notesSlide4.xml.rels><?xml version="1.0" encoding="UTF-8" standalone="yes"?>
<Relationships xmlns="http://schemas.openxmlformats.org/package/2006/relationships">
  <Relationship Id="rIdSlide4" Type="http://schemas.openxmlformats.org/officeDocument/2006/relationships/slide" Target="../slides/slide4.xml"/>
  <Relationship Id="rIdNotesMaster1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  <Relationship Id="rIdSlide5" Type="http://schemas.openxmlformats.org/officeDocument/2006/relationships/slide" Target="../slides/slide5.xml"/>
  <Relationship Id="rIdNotesMaster1" Type="http://schemas.openxmlformats.org/officeDocument/2006/relationships/notesMaster" Target="../notesMasters/notesMaster1.xml"/>
</Relationships>
</file>

<file path=ppt/notesSlides/_rels/notesSlide6.xml.rels><?xml version="1.0" encoding="UTF-8" standalone="yes"?>
<Relationships xmlns="http://schemas.openxmlformats.org/package/2006/relationships">
  <Relationship Id="rIdSlide6" Type="http://schemas.openxmlformats.org/officeDocument/2006/relationships/slide" Target="../slides/slide6.xml"/>
  <Relationship Id="rIdNotesMaster1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【第1页｜0:00 - 0:12 (12秒)｜封面与核心主旨】
各位评委老师好！今天为大家展示【莱森购 Retail Intelligence Agent】——一套受契约约束的无人零售经营智能决策平台。我们的核心主旨只有一句话：终结无人零售中“看表猜原因、AI乱算账、分析无闭环”的痛点，让每一次经营诊断都有据可查，让每一次异常告警都形成可复核的行动闭环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【第2页｜0:12 - 0:35 (23秒)｜应用场景与现实痛点】
先看我们的应用场景与现实痛点。在无人零售智能柜和连锁门店运营中，区域经理每天面对高频交易与设备状态数据。但现实中存在三大痛点：第一，传统BI报表“只给图不给结论”，比如朝阳A店销售额跌了28%，店长要在几张表里翻找是订单量跌了还是客单价跌了；第二，通用大模型“乱写SQL、幻觉归因”，经常把每日比率直接平均、漏扣员工测试单，甚至看单指标下滑就武断甩锅；第三，“诊断停留在聊天框”，发现异常后没有派单、没有SLA时限，更没有下一周期的效果复核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【第3页｜0:35 - 1:00 (25秒)｜与传统方案的核心差异】
那我们和传统的BI看板、以及传统的Text-to-SQL聊天机器人到底有什么不一样？我们采用了独创的“餐厅点菜”契约架构：把确定性规则引擎当“后厨”，把Agent当“服务员”。Agent绝不自己进后厨写SQL、绝不心算比率，只负责听懂问题、调用7个白名单工具；当可比门店少于3家或缺失成本数据时，系统强制输出“证据不足降级”，绝不不懂装懂；更重要的是，我们从“人找数”升级为“IoT主动监控+人机确认复核”的完整闭环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【第4页｜1:00 - 1:25 (25秒)｜最核心部分展示（一）：确定性引擎与主动监控】
接下来只展示我们最核心的两大板块。第一板块是“确定性业务引擎与双模感知”：以长春5大城区真实场景为例，当朝阳A店出现异常，系统自动拆解出订单量下滑31%、退款率高达7.0%（远超同城中位数2.1%），并联动区域投放模型测算ROI；同时，后台主动监控Loop实时监听设备心跳，一旦B店冰柜离线满5分钟自动触发告警并唤醒Agent生成核查证据，15分钟未确认自动升级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【第5页｜1:25 - 1:45 (20秒)｜最核心部分展示（二）：7层受控Agent与行动闭环】
第二大核心板块是“LangGraph 7层受控Agent架构与行动复核闭环”。我们杜绝开放式裸答，将Agent严格限制在7个白名单工具和固定拓扑顺序内运行。当诊断出A店退款异常后，系统生成结构化行动卡——指定区域经理在24小时内抽查最近20笔退款订单，经人工确认后派发；到了下一周期，系统自动调用verify_task核验退款率是否回落到同城中位数+2%以内，实现真正的管理闭环！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【第6页｜1:45 - 2:00 (15秒)｜未来扩展愿景】
最后是我们的未来扩展愿景。第一阶段，我们将从模拟切片无缝对接到企业级实时数仓、真实IoT边缘网关与企微/钉钉审批流；第二阶段，横向扩展库存、会员、供应链维度，并引入多模态视觉巡检，自动识别冰柜缺货与开柜防损；第三阶段，基于Supabase已开启的pgvector向量能力，用历史案件的真实复核效果反向调优风险排序权重，构建自演进的无人零售全域自治大脑。谢谢大家！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Master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Theme1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1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4" Type="http://schemas.openxmlformats.org/officeDocument/2006/relationships/notesSlide" Target="../notesSlides/notesSlide4.xml"/>
  <Relationship Id="rIdImg1" Type="http://schemas.openxmlformats.org/officeDocument/2006/relationships/image" Target="../media/image1.png"/>
  <Relationship Id="rIdImg2" Type="http://schemas.openxmlformats.org/officeDocument/2006/relationships/image" Target="../media/image2.png"/>
</Relationships>
</file>

<file path=ppt/slides/_rels/slide5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5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Notes6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TextBox_3"/>
          <p:cNvSpPr txBox="1"/>
          <p:nvPr/>
        </p:nvSpPr>
        <p:spPr>
          <a:xfrm>
            <a:off x="508000" y="228600"/>
            <a:ext cx="8572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050" b="1" dirty="0">
                <a:solidFill>
                  <a:srgbClr val="1E3A8A"/>
                </a:solidFill>
                <a:latin typeface="Microsoft YaHei"/>
                <a:ea typeface="Microsoft YaHei"/>
              </a:rPr>
              <a:t>LAISEN RETAIL INTELLIGENCE AGENT · 2分钟项目路演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111827"/>
                </a:solidFill>
                <a:latin typeface="Microsoft YaHei"/>
                <a:ea typeface="Microsoft YaHei"/>
              </a:rPr>
              <a:t>莱森购无人零售经营智能决策平台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00" b="0" dirty="0">
                <a:solidFill>
                  <a:srgbClr val="4B5563"/>
                </a:solidFill>
                <a:latin typeface="Microsoft YaHei"/>
                <a:ea typeface="Microsoft YaHei"/>
              </a:rPr>
              <a:t>从“看图猜原因”到“可审计、可复核的行动闭环” · Contract-First Domain Agent</a:t>
            </a:r>
          </a:p>
        </p:txBody>
      </p:sp>
      <p:sp>
        <p:nvSpPr>
          <p:cNvPr id="4" name="TextBox_4"/>
          <p:cNvSpPr txBox="1"/>
          <p:nvPr/>
        </p:nvSpPr>
        <p:spPr>
          <a:xfrm>
            <a:off x="9652000" y="279400"/>
            <a:ext cx="2032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txBody>
          <a:bodyPr wrap="square" lIns="50800" tIns="38100" rIns="50800" bIns="38100" anchor="ctr"/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1" dirty="0">
                <a:solidFill>
                  <a:srgbClr val="C2410C"/>
                </a:solidFill>
                <a:latin typeface="Microsoft YaHei"/>
                <a:ea typeface="Microsoft YaHei"/>
              </a:rPr>
              <a:t>⏱ 路演计时：0:00 - 0:12 (12秒 · P1/6)</a:t>
            </a:r>
          </a:p>
        </p:txBody>
      </p:sp>
      <p:sp>
        <p:nvSpPr>
          <p:cNvPr id="5" name="Rect_5"/>
          <p:cNvSpPr/>
          <p:nvPr/>
        </p:nvSpPr>
        <p:spPr>
          <a:xfrm>
            <a:off x="508000" y="939800"/>
            <a:ext cx="11176000" cy="12700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6" name="Rect_6"/>
          <p:cNvSpPr/>
          <p:nvPr/>
        </p:nvSpPr>
        <p:spPr>
          <a:xfrm>
            <a:off x="508000" y="6426200"/>
            <a:ext cx="11176000" cy="9525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7" name="TextBox_7"/>
          <p:cNvSpPr txBox="1"/>
          <p:nvPr/>
        </p:nvSpPr>
        <p:spPr>
          <a:xfrm>
            <a:off x="508000" y="64770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1" dirty="0">
                <a:solidFill>
                  <a:srgbClr val="4B5563"/>
                </a:solidFill>
                <a:latin typeface="Microsoft YaHei"/>
                <a:ea typeface="Microsoft YaHei"/>
              </a:rPr>
              <a:t>莱森购 Retail Intelligence Agent  |  P1 · 项目定位与总览</a:t>
            </a:r>
          </a:p>
        </p:txBody>
      </p:sp>
      <p:sp>
        <p:nvSpPr>
          <p:cNvPr id="8" name="TextBox_8"/>
          <p:cNvSpPr txBox="1"/>
          <p:nvPr/>
        </p:nvSpPr>
        <p:spPr>
          <a:xfrm>
            <a:off x="5397500" y="6477000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6B7280"/>
                </a:solidFill>
                <a:latin typeface="Microsoft YaHei"/>
                <a:ea typeface="Microsoft YaHei"/>
              </a:rPr>
              <a:t>核心理念：确定性规则引擎 × LangGraph 7层受控Agent × IoT主动监控Loop</a:t>
            </a:r>
          </a:p>
        </p:txBody>
      </p:sp>
      <p:sp>
        <p:nvSpPr>
          <p:cNvPr id="9" name="TextBox_9"/>
          <p:cNvSpPr txBox="1"/>
          <p:nvPr/>
        </p:nvSpPr>
        <p:spPr>
          <a:xfrm>
            <a:off x="508000" y="1111250"/>
            <a:ext cx="6477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300" b="1" dirty="0">
                <a:solidFill>
                  <a:srgbClr val="1E3A8A"/>
                </a:solidFill>
                <a:latin typeface="Microsoft YaHei"/>
                <a:ea typeface="Microsoft YaHei"/>
              </a:rPr>
              <a:t>无人零售经营智能决策平台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3400" b="1" dirty="0">
                <a:solidFill>
                  <a:srgbClr val="0F172A"/>
                </a:solidFill>
                <a:latin typeface="Microsoft YaHei"/>
                <a:ea typeface="Microsoft YaHei"/>
              </a:rPr>
              <a:t>让每一次经营诊断都有据可查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3000" b="1" dirty="0">
                <a:solidFill>
                  <a:srgbClr val="1E3A8A"/>
                </a:solidFill>
                <a:latin typeface="Microsoft YaHei"/>
                <a:ea typeface="Microsoft YaHei"/>
              </a:rPr>
              <a:t>让每一次异常告警都形成行动闭环</a:t>
            </a:r>
          </a:p>
        </p:txBody>
      </p:sp>
      <p:sp>
        <p:nvSpPr>
          <p:cNvPr id="10" name="Rect_10"/>
          <p:cNvSpPr/>
          <p:nvPr/>
        </p:nvSpPr>
        <p:spPr>
          <a:xfrm>
            <a:off x="508000" y="2254250"/>
            <a:ext cx="6477000" cy="7937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1" name="Rect_11"/>
          <p:cNvSpPr/>
          <p:nvPr/>
        </p:nvSpPr>
        <p:spPr>
          <a:xfrm>
            <a:off x="508000" y="2254250"/>
            <a:ext cx="50800" cy="79375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2" name="TextBox_12"/>
          <p:cNvSpPr txBox="1"/>
          <p:nvPr/>
        </p:nvSpPr>
        <p:spPr>
          <a:xfrm>
            <a:off x="660400" y="2317750"/>
            <a:ext cx="6223000" cy="666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00" b="1" dirty="0">
                <a:solidFill>
                  <a:srgbClr val="C2410C"/>
                </a:solidFill>
                <a:latin typeface="Microsoft YaHei"/>
                <a:ea typeface="Microsoft YaHei"/>
              </a:rPr>
              <a:t>中心主旨（解决什么现实问题？）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00" b="0" dirty="0">
                <a:solidFill>
                  <a:srgbClr val="374151"/>
                </a:solidFill>
                <a:latin typeface="Microsoft YaHei"/>
                <a:ea typeface="Microsoft YaHei"/>
              </a:rPr>
              <a:t>面向高密度无人零售点位运营，将【确定性指标与规则引擎】、【LangGraph 7层受控 Agent】与【IoT 主动监控 Loop】深度耦合，彻底解决传统报表“只展示不归因”与通用大模型“口径幻觉、不可落地”的现实鸿沟。</a:t>
            </a:r>
          </a:p>
        </p:txBody>
      </p:sp>
      <p:sp>
        <p:nvSpPr>
          <p:cNvPr id="13" name="Rect_13"/>
          <p:cNvSpPr/>
          <p:nvPr/>
        </p:nvSpPr>
        <p:spPr>
          <a:xfrm>
            <a:off x="508000" y="3206750"/>
            <a:ext cx="3175000" cy="1365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4" name="Rect_14"/>
          <p:cNvSpPr/>
          <p:nvPr/>
        </p:nvSpPr>
        <p:spPr>
          <a:xfrm>
            <a:off x="508000" y="3206750"/>
            <a:ext cx="3175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5" name="TextBox_15"/>
          <p:cNvSpPr txBox="1"/>
          <p:nvPr/>
        </p:nvSpPr>
        <p:spPr>
          <a:xfrm>
            <a:off x="622300" y="3333750"/>
            <a:ext cx="294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b="1" dirty="0">
                <a:solidFill>
                  <a:srgbClr val="C2410C"/>
                </a:solidFill>
                <a:latin typeface="Microsoft YaHei"/>
                <a:ea typeface="Microsoft YaHei"/>
              </a:rPr>
              <a:t>01 / APPLICATION SCENARIO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zh-CN" altLang="en-US" sz="1600" b="1" dirty="0">
                <a:solidFill>
                  <a:srgbClr val="111827"/>
                </a:solidFill>
                <a:latin typeface="Microsoft YaHei"/>
                <a:ea typeface="Microsoft YaHei"/>
              </a:rPr>
              <a:t>多城多店无人零售高频运营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0" dirty="0">
                <a:solidFill>
                  <a:srgbClr val="4B5563"/>
                </a:solidFill>
                <a:latin typeface="Microsoft YaHei"/>
                <a:ea typeface="Microsoft YaHei"/>
              </a:rPr>
              <a:t>覆盖周会问数、单店异常审计、设备离线告警、新点位 ROI 测算</a:t>
            </a:r>
          </a:p>
        </p:txBody>
      </p:sp>
      <p:sp>
        <p:nvSpPr>
          <p:cNvPr id="16" name="Rect_16"/>
          <p:cNvSpPr/>
          <p:nvPr/>
        </p:nvSpPr>
        <p:spPr>
          <a:xfrm>
            <a:off x="3810000" y="3206750"/>
            <a:ext cx="3175000" cy="1365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7" name="Rect_17"/>
          <p:cNvSpPr/>
          <p:nvPr/>
        </p:nvSpPr>
        <p:spPr>
          <a:xfrm>
            <a:off x="3810000" y="3206750"/>
            <a:ext cx="31750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8" name="TextBox_18"/>
          <p:cNvSpPr txBox="1"/>
          <p:nvPr/>
        </p:nvSpPr>
        <p:spPr>
          <a:xfrm>
            <a:off x="3924300" y="3333750"/>
            <a:ext cx="294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b="1" dirty="0">
                <a:solidFill>
                  <a:srgbClr val="C2410C"/>
                </a:solidFill>
                <a:latin typeface="Microsoft YaHei"/>
                <a:ea typeface="Microsoft YaHei"/>
              </a:rPr>
              <a:t>02 / PARADIGM SHIFT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zh-CN" altLang="en-US" sz="1600" b="1" dirty="0">
                <a:solidFill>
                  <a:srgbClr val="111827"/>
                </a:solidFill>
                <a:latin typeface="Microsoft YaHei"/>
                <a:ea typeface="Microsoft YaHei"/>
              </a:rPr>
              <a:t>契约优先 · 零 SQL 幻觉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0" dirty="0">
                <a:solidFill>
                  <a:srgbClr val="4B5563"/>
                </a:solidFill>
                <a:latin typeface="Microsoft YaHei"/>
                <a:ea typeface="Microsoft YaHei"/>
              </a:rPr>
              <a:t>代码做确定性计算与规则判定，Agent 仅做白名单工具编排与证据表达</a:t>
            </a:r>
          </a:p>
        </p:txBody>
      </p:sp>
      <p:sp>
        <p:nvSpPr>
          <p:cNvPr id="19" name="Rect_19"/>
          <p:cNvSpPr/>
          <p:nvPr/>
        </p:nvSpPr>
        <p:spPr>
          <a:xfrm>
            <a:off x="508000" y="4699000"/>
            <a:ext cx="3175000" cy="1365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20" name="Rect_20"/>
          <p:cNvSpPr/>
          <p:nvPr/>
        </p:nvSpPr>
        <p:spPr>
          <a:xfrm>
            <a:off x="508000" y="4699000"/>
            <a:ext cx="3175000" cy="381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21" name="TextBox_21"/>
          <p:cNvSpPr txBox="1"/>
          <p:nvPr/>
        </p:nvSpPr>
        <p:spPr>
          <a:xfrm>
            <a:off x="622300" y="4826000"/>
            <a:ext cx="294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b="1" dirty="0">
                <a:solidFill>
                  <a:srgbClr val="C2410C"/>
                </a:solidFill>
                <a:latin typeface="Microsoft YaHei"/>
                <a:ea typeface="Microsoft YaHei"/>
              </a:rPr>
              <a:t>03 / DUAL-LOOP ENGINE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zh-CN" altLang="en-US" sz="1600" b="1" dirty="0">
                <a:solidFill>
                  <a:srgbClr val="111827"/>
                </a:solidFill>
                <a:latin typeface="Microsoft YaHei"/>
                <a:ea typeface="Microsoft YaHei"/>
              </a:rPr>
              <a:t>被动问数 + IoT 主动监控唤醒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0" dirty="0">
                <a:solidFill>
                  <a:srgbClr val="4B5563"/>
                </a:solidFill>
                <a:latin typeface="Microsoft YaHei"/>
                <a:ea typeface="Microsoft YaHei"/>
              </a:rPr>
              <a:t>5分钟超时告警、15分钟升级、自动唤醒 Agent 预审计与多渠道通知</a:t>
            </a:r>
          </a:p>
        </p:txBody>
      </p:sp>
      <p:sp>
        <p:nvSpPr>
          <p:cNvPr id="22" name="Rect_22"/>
          <p:cNvSpPr/>
          <p:nvPr/>
        </p:nvSpPr>
        <p:spPr>
          <a:xfrm>
            <a:off x="3810000" y="4699000"/>
            <a:ext cx="3175000" cy="1365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23" name="Rect_23"/>
          <p:cNvSpPr/>
          <p:nvPr/>
        </p:nvSpPr>
        <p:spPr>
          <a:xfrm>
            <a:off x="3810000" y="4699000"/>
            <a:ext cx="31750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24" name="TextBox_24"/>
          <p:cNvSpPr txBox="1"/>
          <p:nvPr/>
        </p:nvSpPr>
        <p:spPr>
          <a:xfrm>
            <a:off x="3924300" y="4826000"/>
            <a:ext cx="294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b="1" dirty="0">
                <a:solidFill>
                  <a:srgbClr val="C2410C"/>
                </a:solidFill>
                <a:latin typeface="Microsoft YaHei"/>
                <a:ea typeface="Microsoft YaHei"/>
              </a:rPr>
              <a:t>04 / VERIFIABLE ACTION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zh-CN" altLang="en-US" sz="1600" b="1" dirty="0">
                <a:solidFill>
                  <a:srgbClr val="111827"/>
                </a:solidFill>
                <a:latin typeface="Microsoft YaHei"/>
                <a:ea typeface="Microsoft YaHei"/>
              </a:rPr>
              <a:t>人机协同 · 下一周期自动复核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0" dirty="0">
                <a:solidFill>
                  <a:srgbClr val="4B5563"/>
                </a:solidFill>
                <a:latin typeface="Microsoft YaHei"/>
                <a:ea typeface="Microsoft YaHei"/>
              </a:rPr>
              <a:t>生成带负责人与复核指标的行动卡，达标自动结案、未达标自动升级</a:t>
            </a:r>
          </a:p>
        </p:txBody>
      </p:sp>
      <p:sp>
        <p:nvSpPr>
          <p:cNvPr id="25" name="Rect_25"/>
          <p:cNvSpPr/>
          <p:nvPr/>
        </p:nvSpPr>
        <p:spPr>
          <a:xfrm>
            <a:off x="7175500" y="1111250"/>
            <a:ext cx="4508500" cy="508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26" name="TextBox_26"/>
          <p:cNvSpPr txBox="1"/>
          <p:nvPr/>
        </p:nvSpPr>
        <p:spPr>
          <a:xfrm>
            <a:off x="7366000" y="1238250"/>
            <a:ext cx="412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1" dirty="0">
                <a:solidFill>
                  <a:srgbClr val="93C5FD"/>
                </a:solidFill>
                <a:latin typeface="Microsoft YaHei"/>
                <a:ea typeface="Microsoft YaHei"/>
              </a:rPr>
              <a:t>CORE CLOSED-LOOP ARCHITECTURE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800" b="1" dirty="0">
                <a:solidFill>
                  <a:srgbClr val="FFFFFF"/>
                </a:solidFill>
                <a:latin typeface="Microsoft YaHei"/>
                <a:ea typeface="Microsoft YaHei"/>
              </a:rPr>
              <a:t>一条全链路可追溯的经营决策闭环</a:t>
            </a:r>
          </a:p>
        </p:txBody>
      </p:sp>
      <p:sp>
        <p:nvSpPr>
          <p:cNvPr id="27" name="Rect_27"/>
          <p:cNvSpPr/>
          <p:nvPr/>
        </p:nvSpPr>
        <p:spPr>
          <a:xfrm>
            <a:off x="7366000" y="1809750"/>
            <a:ext cx="41275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28" name="TextBox_28"/>
          <p:cNvSpPr txBox="1"/>
          <p:nvPr/>
        </p:nvSpPr>
        <p:spPr>
          <a:xfrm>
            <a:off x="7480300" y="189865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50" b="1" dirty="0">
                <a:solidFill>
                  <a:srgbClr val="F8FAFC"/>
                </a:solidFill>
                <a:latin typeface="Microsoft YaHei"/>
                <a:ea typeface="Microsoft YaHei"/>
              </a:rPr>
              <a:t>1. 双源触发：自然语言问数 / IoT 心跳异常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CBD5E1"/>
                </a:solidFill>
                <a:latin typeface="Microsoft YaHei"/>
                <a:ea typeface="Microsoft YaHei"/>
              </a:rPr>
              <a:t>区域经理提问“为什么A店表现差” 或 设备离线 5min 自动唤醒</a:t>
            </a:r>
          </a:p>
        </p:txBody>
      </p:sp>
      <p:sp>
        <p:nvSpPr>
          <p:cNvPr id="29" name="Rect_29"/>
          <p:cNvSpPr/>
          <p:nvPr/>
        </p:nvSpPr>
        <p:spPr>
          <a:xfrm>
            <a:off x="7366000" y="2603500"/>
            <a:ext cx="41275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30" name="TextBox_30"/>
          <p:cNvSpPr txBox="1"/>
          <p:nvPr/>
        </p:nvSpPr>
        <p:spPr>
          <a:xfrm>
            <a:off x="7480300" y="26924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50" b="1" dirty="0">
                <a:solidFill>
                  <a:srgbClr val="F8FAFC"/>
                </a:solidFill>
                <a:latin typeface="Microsoft YaHei"/>
                <a:ea typeface="Microsoft YaHei"/>
              </a:rPr>
              <a:t>2. 受控编排：LangGraph 调度 7 大白名单工具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CBD5E1"/>
                </a:solidFill>
                <a:latin typeface="Microsoft YaHei"/>
                <a:ea typeface="Microsoft YaHei"/>
              </a:rPr>
              <a:t>意图解析 → 权限与参数护栏 → 严禁自由写 SQL 或心算比率</a:t>
            </a:r>
          </a:p>
        </p:txBody>
      </p:sp>
      <p:sp>
        <p:nvSpPr>
          <p:cNvPr id="31" name="Rect_31"/>
          <p:cNvSpPr/>
          <p:nvPr/>
        </p:nvSpPr>
        <p:spPr>
          <a:xfrm>
            <a:off x="7366000" y="3397250"/>
            <a:ext cx="41275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32" name="TextBox_32"/>
          <p:cNvSpPr txBox="1"/>
          <p:nvPr/>
        </p:nvSpPr>
        <p:spPr>
          <a:xfrm>
            <a:off x="7480300" y="348615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50" b="1" dirty="0">
                <a:solidFill>
                  <a:srgbClr val="F8FAFC"/>
                </a:solidFill>
                <a:latin typeface="Microsoft YaHei"/>
                <a:ea typeface="Microsoft YaHei"/>
              </a:rPr>
              <a:t>3. 确定性引擎：差距拆解 + 规则命中 + 同店对标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CBD5E1"/>
                </a:solidFill>
                <a:latin typeface="Microsoft YaHei"/>
                <a:ea typeface="Microsoft YaHei"/>
              </a:rPr>
              <a:t>销售额拆解为订单量×客单价；不足 3 家可比门店强制输出降级结论</a:t>
            </a:r>
          </a:p>
        </p:txBody>
      </p:sp>
      <p:sp>
        <p:nvSpPr>
          <p:cNvPr id="33" name="Rect_33"/>
          <p:cNvSpPr/>
          <p:nvPr/>
        </p:nvSpPr>
        <p:spPr>
          <a:xfrm>
            <a:off x="7366000" y="4191000"/>
            <a:ext cx="41275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</p:sp>
      <p:sp>
        <p:nvSpPr>
          <p:cNvPr id="34" name="TextBox_34"/>
          <p:cNvSpPr txBox="1"/>
          <p:nvPr/>
        </p:nvSpPr>
        <p:spPr>
          <a:xfrm>
            <a:off x="7480300" y="427990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50" b="1" dirty="0">
                <a:solidFill>
                  <a:srgbClr val="F8FAFC"/>
                </a:solidFill>
                <a:latin typeface="Microsoft YaHei"/>
                <a:ea typeface="Microsoft YaHei"/>
              </a:rPr>
              <a:t>4. 证据成案：生成结构化行动卡（人工确认护栏）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CBD5E1"/>
                </a:solidFill>
                <a:latin typeface="Microsoft YaHei"/>
                <a:ea typeface="Microsoft YaHei"/>
              </a:rPr>
              <a:t>绑定 evidence_id 与 trace_id，明确区域经理、24h期限与复核目标</a:t>
            </a:r>
          </a:p>
        </p:txBody>
      </p:sp>
      <p:sp>
        <p:nvSpPr>
          <p:cNvPr id="35" name="Rect_35"/>
          <p:cNvSpPr/>
          <p:nvPr/>
        </p:nvSpPr>
        <p:spPr>
          <a:xfrm>
            <a:off x="7366000" y="4984750"/>
            <a:ext cx="4127500" cy="685800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</a:ln>
        </p:spPr>
      </p:sp>
      <p:sp>
        <p:nvSpPr>
          <p:cNvPr id="36" name="TextBox_36"/>
          <p:cNvSpPr txBox="1"/>
          <p:nvPr/>
        </p:nvSpPr>
        <p:spPr>
          <a:xfrm>
            <a:off x="7480300" y="5073650"/>
            <a:ext cx="3898900" cy="5207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50" b="1" dirty="0">
                <a:solidFill>
                  <a:srgbClr val="F8FAFC"/>
                </a:solidFill>
                <a:latin typeface="Microsoft YaHei"/>
                <a:ea typeface="Microsoft YaHei"/>
              </a:rPr>
              <a:t>5. 周期复核：verify_task 自动验证指标闭环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CBD5E1"/>
                </a:solidFill>
                <a:latin typeface="Microsoft YaHei"/>
                <a:ea typeface="Microsoft YaHei"/>
              </a:rPr>
              <a:t>下一周期退款率回落则 closed 结案，未达标则自动 escalated 升级</a:t>
            </a:r>
          </a:p>
        </p:txBody>
      </p:sp>
      <p:sp>
        <p:nvSpPr>
          <p:cNvPr id="37" name="TextBox_37"/>
          <p:cNvSpPr txBox="1"/>
          <p:nvPr/>
        </p:nvSpPr>
        <p:spPr>
          <a:xfrm>
            <a:off x="7366000" y="5842000"/>
            <a:ext cx="41275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94A3B8"/>
                </a:solidFill>
                <a:latin typeface="Microsoft YaHei"/>
                <a:ea typeface="Microsoft YaHei"/>
              </a:rPr>
              <a:t>数据底座：Supabase (PostgreSQL + pgvector)   |   批次：changchun_demo_v1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TextBox_3"/>
          <p:cNvSpPr txBox="1"/>
          <p:nvPr/>
        </p:nvSpPr>
        <p:spPr>
          <a:xfrm>
            <a:off x="508000" y="228600"/>
            <a:ext cx="8572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050" b="1" dirty="0">
                <a:solidFill>
                  <a:srgbClr val="1E3A8A"/>
                </a:solidFill>
                <a:latin typeface="Microsoft YaHei"/>
                <a:ea typeface="Microsoft YaHei"/>
              </a:rPr>
              <a:t>01 · APPLICATION SCENARIOS &amp; REAL-WORLD PAIN POINTS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111827"/>
                </a:solidFill>
                <a:latin typeface="Microsoft YaHei"/>
                <a:ea typeface="Microsoft YaHei"/>
              </a:rPr>
              <a:t>应用场景与中心主旨：直击无人零售经营的“三大现实痛点”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00" b="0" dirty="0">
                <a:solidFill>
                  <a:srgbClr val="4B5563"/>
                </a:solidFill>
                <a:latin typeface="Microsoft YaHei"/>
                <a:ea typeface="Microsoft YaHei"/>
              </a:rPr>
              <a:t>中心主旨：解决“看得见海量经营数据，却做不出可信、可追责、可复核决策”的业务断层</a:t>
            </a:r>
          </a:p>
        </p:txBody>
      </p:sp>
      <p:sp>
        <p:nvSpPr>
          <p:cNvPr id="4" name="TextBox_4"/>
          <p:cNvSpPr txBox="1"/>
          <p:nvPr/>
        </p:nvSpPr>
        <p:spPr>
          <a:xfrm>
            <a:off x="9652000" y="279400"/>
            <a:ext cx="2032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txBody>
          <a:bodyPr wrap="square" lIns="50800" tIns="38100" rIns="50800" bIns="38100" anchor="ctr"/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1" dirty="0">
                <a:solidFill>
                  <a:srgbClr val="C2410C"/>
                </a:solidFill>
                <a:latin typeface="Microsoft YaHei"/>
                <a:ea typeface="Microsoft YaHei"/>
              </a:rPr>
              <a:t>⏱ 路演计时：0:12 - 0:35 (23秒 · P2/6)</a:t>
            </a:r>
          </a:p>
        </p:txBody>
      </p:sp>
      <p:sp>
        <p:nvSpPr>
          <p:cNvPr id="5" name="Rect_5"/>
          <p:cNvSpPr/>
          <p:nvPr/>
        </p:nvSpPr>
        <p:spPr>
          <a:xfrm>
            <a:off x="508000" y="939800"/>
            <a:ext cx="11176000" cy="12700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6" name="Rect_6"/>
          <p:cNvSpPr/>
          <p:nvPr/>
        </p:nvSpPr>
        <p:spPr>
          <a:xfrm>
            <a:off x="508000" y="6426200"/>
            <a:ext cx="11176000" cy="9525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7" name="TextBox_7"/>
          <p:cNvSpPr txBox="1"/>
          <p:nvPr/>
        </p:nvSpPr>
        <p:spPr>
          <a:xfrm>
            <a:off x="508000" y="64770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1" dirty="0">
                <a:solidFill>
                  <a:srgbClr val="4B5563"/>
                </a:solidFill>
                <a:latin typeface="Microsoft YaHei"/>
                <a:ea typeface="Microsoft YaHei"/>
              </a:rPr>
              <a:t>莱森购 Retail Intelligence Agent  |  P2 · 应用场景与现实痛点</a:t>
            </a:r>
          </a:p>
        </p:txBody>
      </p:sp>
      <p:sp>
        <p:nvSpPr>
          <p:cNvPr id="8" name="TextBox_8"/>
          <p:cNvSpPr txBox="1"/>
          <p:nvPr/>
        </p:nvSpPr>
        <p:spPr>
          <a:xfrm>
            <a:off x="5397500" y="6477000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6B7280"/>
                </a:solidFill>
                <a:latin typeface="Microsoft YaHei"/>
                <a:ea typeface="Microsoft YaHei"/>
              </a:rPr>
              <a:t>核心命题：企业不缺展示图表的看板，缺的是受契约约束、带证据链、能转化为闭环行动的决策系统</a:t>
            </a:r>
          </a:p>
        </p:txBody>
      </p:sp>
      <p:sp>
        <p:nvSpPr>
          <p:cNvPr id="9" name="Rect_9"/>
          <p:cNvSpPr/>
          <p:nvPr/>
        </p:nvSpPr>
        <p:spPr>
          <a:xfrm>
            <a:off x="508000" y="1079500"/>
            <a:ext cx="11176000" cy="73025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10" name="TextBox_10"/>
          <p:cNvSpPr txBox="1"/>
          <p:nvPr/>
        </p:nvSpPr>
        <p:spPr>
          <a:xfrm>
            <a:off x="666750" y="1155700"/>
            <a:ext cx="10858500" cy="584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zh-CN" altLang="en-US" sz="1200" b="1" dirty="0">
                <a:solidFill>
                  <a:srgbClr val="93C5FD"/>
                </a:solidFill>
                <a:latin typeface="Microsoft YaHei"/>
                <a:ea typeface="Microsoft YaHei"/>
              </a:rPr>
              <a:t>核心落地应用场景（区域经理 / 运营督导 / 选址团队的高频决策工作台 · 以长春 5 大城区无人零售网络为样本）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500" b="1" dirty="0">
                <a:solidFill>
                  <a:srgbClr val="FFFFFF"/>
                </a:solidFill>
                <a:latin typeface="Microsoft YaHei"/>
                <a:ea typeface="Microsoft YaHei"/>
              </a:rPr>
              <a:t>① 周会经营问数与同城对标      |      ② 门店业绩异动与退款激增审计      |      ③ 7×24h 设备心跳离线主动告警      |      ④ 新商圈点位投放与回本周期测算</a:t>
            </a:r>
          </a:p>
        </p:txBody>
      </p:sp>
      <p:sp>
        <p:nvSpPr>
          <p:cNvPr id="11" name="Rect_11"/>
          <p:cNvSpPr/>
          <p:nvPr/>
        </p:nvSpPr>
        <p:spPr>
          <a:xfrm>
            <a:off x="508000" y="1968500"/>
            <a:ext cx="3606800" cy="4286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2" name="Rect_12"/>
          <p:cNvSpPr/>
          <p:nvPr/>
        </p:nvSpPr>
        <p:spPr>
          <a:xfrm>
            <a:off x="508000" y="1968500"/>
            <a:ext cx="3606800" cy="508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3" name="TextBox_13"/>
          <p:cNvSpPr txBox="1"/>
          <p:nvPr/>
        </p:nvSpPr>
        <p:spPr>
          <a:xfrm>
            <a:off x="660400" y="2146300"/>
            <a:ext cx="3302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150" b="1" dirty="0">
                <a:solidFill>
                  <a:srgbClr val="C2410C"/>
                </a:solidFill>
                <a:latin typeface="Microsoft YaHei"/>
                <a:ea typeface="Microsoft YaHei"/>
              </a:rPr>
              <a:t>现实痛点 01 · 传统看表困境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lang="zh-CN" altLang="en-US" sz="1900" b="1" dirty="0">
                <a:solidFill>
                  <a:srgbClr val="111827"/>
                </a:solidFill>
                <a:latin typeface="Microsoft YaHei"/>
                <a:ea typeface="Microsoft YaHei"/>
              </a:rPr>
              <a:t>“只给图表，不给归因与证据”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50" b="0" dirty="0">
                <a:solidFill>
                  <a:srgbClr val="374151"/>
                </a:solidFill>
                <a:latin typeface="Microsoft YaHei"/>
                <a:ea typeface="Microsoft YaHei"/>
              </a:rPr>
              <a:t>运营人员面对几十张分散的销售、订单、盘点与设备表，看到门店销售额下跌时，需手动跨表排查是【客流订单萎缩】、【客单价下滑】还是【区域性集体波动】，耗时极长且易误判。</a:t>
            </a:r>
          </a:p>
        </p:txBody>
      </p:sp>
      <p:sp>
        <p:nvSpPr>
          <p:cNvPr id="14" name="Rect_14"/>
          <p:cNvSpPr/>
          <p:nvPr/>
        </p:nvSpPr>
        <p:spPr>
          <a:xfrm>
            <a:off x="660400" y="4953000"/>
            <a:ext cx="3302000" cy="1111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</p:sp>
      <p:sp>
        <p:nvSpPr>
          <p:cNvPr id="15" name="TextBox_15"/>
          <p:cNvSpPr txBox="1"/>
          <p:nvPr/>
        </p:nvSpPr>
        <p:spPr>
          <a:xfrm>
            <a:off x="749300" y="5029200"/>
            <a:ext cx="3124200" cy="952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00" b="0" dirty="0">
                <a:solidFill>
                  <a:srgbClr val="9A3412"/>
                </a:solidFill>
                <a:latin typeface="Microsoft YaHei"/>
                <a:ea typeface="Microsoft YaHei"/>
              </a:rPr>
              <a:t>真实案例：朝阳 A 店本周销售额突降 -28.0%，传统报表仅标红数字，店长无法一眼识别是订单量暴跌（-31.0%）叠加退款率激增（7.0%）所致。</a:t>
            </a:r>
          </a:p>
        </p:txBody>
      </p:sp>
      <p:sp>
        <p:nvSpPr>
          <p:cNvPr id="16" name="Rect_16"/>
          <p:cNvSpPr/>
          <p:nvPr/>
        </p:nvSpPr>
        <p:spPr>
          <a:xfrm>
            <a:off x="4292600" y="1968500"/>
            <a:ext cx="3606800" cy="4286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7" name="Rect_17"/>
          <p:cNvSpPr/>
          <p:nvPr/>
        </p:nvSpPr>
        <p:spPr>
          <a:xfrm>
            <a:off x="4292600" y="1968500"/>
            <a:ext cx="3606800" cy="508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8" name="TextBox_18"/>
          <p:cNvSpPr txBox="1"/>
          <p:nvPr/>
        </p:nvSpPr>
        <p:spPr>
          <a:xfrm>
            <a:off x="4445000" y="2146300"/>
            <a:ext cx="3302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150" b="1" dirty="0">
                <a:solidFill>
                  <a:srgbClr val="C2410C"/>
                </a:solidFill>
                <a:latin typeface="Microsoft YaHei"/>
                <a:ea typeface="Microsoft YaHei"/>
              </a:rPr>
              <a:t>现实痛点 02 · 通用 AI 问数之坑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lang="zh-CN" altLang="en-US" sz="1900" b="1" dirty="0">
                <a:solidFill>
                  <a:srgbClr val="111827"/>
                </a:solidFill>
                <a:latin typeface="Microsoft YaHei"/>
                <a:ea typeface="Microsoft YaHei"/>
              </a:rPr>
              <a:t>“AI 自由写 SQL 算错账、武断下结论”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50" b="0" dirty="0">
                <a:solidFill>
                  <a:srgbClr val="374151"/>
                </a:solidFill>
                <a:latin typeface="Microsoft YaHei"/>
                <a:ea typeface="Microsoft YaHei"/>
              </a:rPr>
              <a:t>直接让 LLM 写 SQL 极易发生【口径事故】：用订单原价代替扣退销售额、漏筛员工测试单、把每日客单价直接取平均（大店小店被同等对待）；且在证据不足时强行编造根因。</a:t>
            </a:r>
          </a:p>
        </p:txBody>
      </p:sp>
      <p:sp>
        <p:nvSpPr>
          <p:cNvPr id="19" name="Rect_19"/>
          <p:cNvSpPr/>
          <p:nvPr/>
        </p:nvSpPr>
        <p:spPr>
          <a:xfrm>
            <a:off x="4445000" y="4953000"/>
            <a:ext cx="3302000" cy="1111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</p:sp>
      <p:sp>
        <p:nvSpPr>
          <p:cNvPr id="20" name="TextBox_20"/>
          <p:cNvSpPr txBox="1"/>
          <p:nvPr/>
        </p:nvSpPr>
        <p:spPr>
          <a:xfrm>
            <a:off x="4533900" y="5029200"/>
            <a:ext cx="3124200" cy="952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00" b="0" dirty="0">
                <a:solidFill>
                  <a:srgbClr val="9A3412"/>
                </a:solidFill>
                <a:latin typeface="Microsoft YaHei"/>
                <a:ea typeface="Microsoft YaHei"/>
              </a:rPr>
              <a:t>致命风险：财务与运营口径不一致（如新开店直接纳入同比导致数据虚高），一句话提示词约束不住 AI 跳步调用，企业根本不敢用于真实经营。</a:t>
            </a:r>
          </a:p>
        </p:txBody>
      </p:sp>
      <p:sp>
        <p:nvSpPr>
          <p:cNvPr id="21" name="Rect_21"/>
          <p:cNvSpPr/>
          <p:nvPr/>
        </p:nvSpPr>
        <p:spPr>
          <a:xfrm>
            <a:off x="8077200" y="1968500"/>
            <a:ext cx="3606800" cy="4286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22" name="Rect_22"/>
          <p:cNvSpPr/>
          <p:nvPr/>
        </p:nvSpPr>
        <p:spPr>
          <a:xfrm>
            <a:off x="8077200" y="1968500"/>
            <a:ext cx="3606800" cy="508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23" name="TextBox_23"/>
          <p:cNvSpPr txBox="1"/>
          <p:nvPr/>
        </p:nvSpPr>
        <p:spPr>
          <a:xfrm>
            <a:off x="8229600" y="2146300"/>
            <a:ext cx="3302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150" b="1" dirty="0">
                <a:solidFill>
                  <a:srgbClr val="C2410C"/>
                </a:solidFill>
                <a:latin typeface="Microsoft YaHei"/>
                <a:ea typeface="Microsoft YaHei"/>
              </a:rPr>
              <a:t>现实痛点 03 · 落地执行断层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lang="zh-CN" altLang="en-US" sz="1900" b="1" dirty="0">
                <a:solidFill>
                  <a:srgbClr val="111827"/>
                </a:solidFill>
                <a:latin typeface="Microsoft YaHei"/>
                <a:ea typeface="Microsoft YaHei"/>
              </a:rPr>
              <a:t>“分析停留在报告，无人跟进与复核”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50" b="0" dirty="0">
                <a:solidFill>
                  <a:srgbClr val="374151"/>
                </a:solidFill>
                <a:latin typeface="Microsoft YaHei"/>
                <a:ea typeface="Microsoft YaHei"/>
              </a:rPr>
              <a:t>无论是周会 PPT 还是 AI 聊天框，往往止步于“建议加强管理”的空洞套话。谁去核查？几小时内完成？下周看哪个指标确认修好了？缺乏状态机追踪与主动监控唤醒。</a:t>
            </a:r>
          </a:p>
        </p:txBody>
      </p:sp>
      <p:sp>
        <p:nvSpPr>
          <p:cNvPr id="24" name="Rect_24"/>
          <p:cNvSpPr/>
          <p:nvPr/>
        </p:nvSpPr>
        <p:spPr>
          <a:xfrm>
            <a:off x="8229600" y="4953000"/>
            <a:ext cx="3302000" cy="111125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</p:sp>
      <p:sp>
        <p:nvSpPr>
          <p:cNvPr id="25" name="TextBox_25"/>
          <p:cNvSpPr txBox="1"/>
          <p:nvPr/>
        </p:nvSpPr>
        <p:spPr>
          <a:xfrm>
            <a:off x="8318500" y="5029200"/>
            <a:ext cx="3124200" cy="952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00" b="0" dirty="0">
                <a:solidFill>
                  <a:srgbClr val="9A3412"/>
                </a:solidFill>
                <a:latin typeface="Microsoft YaHei"/>
                <a:ea typeface="Microsoft YaHei"/>
              </a:rPr>
              <a:t>管理黑洞：冰柜离线或异常退款发生时，若无人主动提问就被长期搁置；派发的整改任务没有下一周期的自动指标复核，问题反复重演。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TextBox_3"/>
          <p:cNvSpPr txBox="1"/>
          <p:nvPr/>
        </p:nvSpPr>
        <p:spPr>
          <a:xfrm>
            <a:off x="508000" y="228600"/>
            <a:ext cx="8572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050" b="1" dirty="0">
                <a:solidFill>
                  <a:srgbClr val="1E3A8A"/>
                </a:solidFill>
                <a:latin typeface="Microsoft YaHei"/>
                <a:ea typeface="Microsoft YaHei"/>
              </a:rPr>
              <a:t>02 · KEY DIFFERENTIATION VS. TRADITIONAL SOLUTIONS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111827"/>
                </a:solidFill>
                <a:latin typeface="Microsoft YaHei"/>
                <a:ea typeface="Microsoft YaHei"/>
              </a:rPr>
              <a:t>核心差异化：我们与传统 BI 及传统 AI 问数哪里不一样？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00" b="0" dirty="0">
                <a:solidFill>
                  <a:srgbClr val="4B5563"/>
                </a:solidFill>
                <a:latin typeface="Microsoft YaHei"/>
                <a:ea typeface="Microsoft YaHei"/>
              </a:rPr>
              <a:t>核心设计哲学：人守住“契约”与“验收”，确定性代码当“后厨”，大模型当“受控服务员”</a:t>
            </a:r>
          </a:p>
        </p:txBody>
      </p:sp>
      <p:sp>
        <p:nvSpPr>
          <p:cNvPr id="4" name="TextBox_4"/>
          <p:cNvSpPr txBox="1"/>
          <p:nvPr/>
        </p:nvSpPr>
        <p:spPr>
          <a:xfrm>
            <a:off x="9652000" y="279400"/>
            <a:ext cx="2032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txBody>
          <a:bodyPr wrap="square" lIns="50800" tIns="38100" rIns="50800" bIns="38100" anchor="ctr"/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1" dirty="0">
                <a:solidFill>
                  <a:srgbClr val="C2410C"/>
                </a:solidFill>
                <a:latin typeface="Microsoft YaHei"/>
                <a:ea typeface="Microsoft YaHei"/>
              </a:rPr>
              <a:t>⏱ 路演计时：0:35 - 1:00 (25秒 · P3/6)</a:t>
            </a:r>
          </a:p>
        </p:txBody>
      </p:sp>
      <p:sp>
        <p:nvSpPr>
          <p:cNvPr id="5" name="Rect_5"/>
          <p:cNvSpPr/>
          <p:nvPr/>
        </p:nvSpPr>
        <p:spPr>
          <a:xfrm>
            <a:off x="508000" y="939800"/>
            <a:ext cx="11176000" cy="12700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6" name="Rect_6"/>
          <p:cNvSpPr/>
          <p:nvPr/>
        </p:nvSpPr>
        <p:spPr>
          <a:xfrm>
            <a:off x="508000" y="6426200"/>
            <a:ext cx="11176000" cy="9525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7" name="TextBox_7"/>
          <p:cNvSpPr txBox="1"/>
          <p:nvPr/>
        </p:nvSpPr>
        <p:spPr>
          <a:xfrm>
            <a:off x="508000" y="64770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1" dirty="0">
                <a:solidFill>
                  <a:srgbClr val="4B5563"/>
                </a:solidFill>
                <a:latin typeface="Microsoft YaHei"/>
                <a:ea typeface="Microsoft YaHei"/>
              </a:rPr>
              <a:t>莱森购 Retail Intelligence Agent  |  P3 · 核心差异化对比</a:t>
            </a:r>
          </a:p>
        </p:txBody>
      </p:sp>
      <p:sp>
        <p:nvSpPr>
          <p:cNvPr id="8" name="TextBox_8"/>
          <p:cNvSpPr txBox="1"/>
          <p:nvPr/>
        </p:nvSpPr>
        <p:spPr>
          <a:xfrm>
            <a:off x="5397500" y="6477000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6B7280"/>
                </a:solidFill>
                <a:latin typeface="Microsoft YaHei"/>
                <a:ea typeface="Microsoft YaHei"/>
              </a:rPr>
              <a:t>牺牲“无边界自由闲聊”的虚假灵活，换取企业级经营决策 100% 可信、可审计、可复核的确定性价值</a:t>
            </a:r>
          </a:p>
        </p:txBody>
      </p:sp>
      <p:sp>
        <p:nvSpPr>
          <p:cNvPr id="9" name="Rect_9"/>
          <p:cNvSpPr/>
          <p:nvPr/>
        </p:nvSpPr>
        <p:spPr>
          <a:xfrm>
            <a:off x="508000" y="1066800"/>
            <a:ext cx="269875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10" name="TextBox_10"/>
          <p:cNvSpPr txBox="1"/>
          <p:nvPr/>
        </p:nvSpPr>
        <p:spPr>
          <a:xfrm>
            <a:off x="596900" y="1117600"/>
            <a:ext cx="2520950" cy="444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50" b="1" dirty="0">
                <a:solidFill>
                  <a:srgbClr val="1E3A8A"/>
                </a:solidFill>
                <a:latin typeface="Microsoft YaHei"/>
                <a:ea typeface="Microsoft YaHei"/>
              </a:rPr>
              <a:t>菜单 = 指标契约库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0" dirty="0">
                <a:solidFill>
                  <a:srgbClr val="4B5563"/>
                </a:solidFill>
                <a:latin typeface="Microsoft YaHei"/>
                <a:ea typeface="Microsoft YaHei"/>
              </a:rPr>
              <a:t>预定义公式、同店口径、扣退规则，拒绝临时拼凑</a:t>
            </a:r>
          </a:p>
        </p:txBody>
      </p:sp>
      <p:sp>
        <p:nvSpPr>
          <p:cNvPr id="11" name="Rect_11"/>
          <p:cNvSpPr/>
          <p:nvPr/>
        </p:nvSpPr>
        <p:spPr>
          <a:xfrm>
            <a:off x="3333750" y="1066800"/>
            <a:ext cx="269875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12" name="TextBox_12"/>
          <p:cNvSpPr txBox="1"/>
          <p:nvPr/>
        </p:nvSpPr>
        <p:spPr>
          <a:xfrm>
            <a:off x="3422650" y="1117600"/>
            <a:ext cx="2520950" cy="444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50" b="1" dirty="0">
                <a:solidFill>
                  <a:srgbClr val="1E3A8A"/>
                </a:solidFill>
                <a:latin typeface="Microsoft YaHei"/>
                <a:ea typeface="Microsoft YaHei"/>
              </a:rPr>
              <a:t>服务员 = 受控 Agent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0" dirty="0">
                <a:solidFill>
                  <a:srgbClr val="4B5563"/>
                </a:solidFill>
                <a:latin typeface="Microsoft YaHei"/>
                <a:ea typeface="Microsoft YaHei"/>
              </a:rPr>
              <a:t>只做意图解析与白名单点单，0 SQL、0 心算</a:t>
            </a:r>
          </a:p>
        </p:txBody>
      </p:sp>
      <p:sp>
        <p:nvSpPr>
          <p:cNvPr id="13" name="Rect_13"/>
          <p:cNvSpPr/>
          <p:nvPr/>
        </p:nvSpPr>
        <p:spPr>
          <a:xfrm>
            <a:off x="6159500" y="1066800"/>
            <a:ext cx="269875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14" name="TextBox_14"/>
          <p:cNvSpPr txBox="1"/>
          <p:nvPr/>
        </p:nvSpPr>
        <p:spPr>
          <a:xfrm>
            <a:off x="6248400" y="1117600"/>
            <a:ext cx="2520950" cy="444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50" b="1" dirty="0">
                <a:solidFill>
                  <a:srgbClr val="1E3A8A"/>
                </a:solidFill>
                <a:latin typeface="Microsoft YaHei"/>
                <a:ea typeface="Microsoft YaHei"/>
              </a:rPr>
              <a:t>厨师长 = 规则引擎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0" dirty="0">
                <a:solidFill>
                  <a:srgbClr val="4B5563"/>
                </a:solidFill>
                <a:latin typeface="Microsoft YaHei"/>
                <a:ea typeface="Microsoft YaHei"/>
              </a:rPr>
              <a:t>代码级确定性判定（如至少满足2项异常才建案）</a:t>
            </a:r>
          </a:p>
        </p:txBody>
      </p:sp>
      <p:sp>
        <p:nvSpPr>
          <p:cNvPr id="15" name="Rect_15"/>
          <p:cNvSpPr/>
          <p:nvPr/>
        </p:nvSpPr>
        <p:spPr>
          <a:xfrm>
            <a:off x="8985250" y="1066800"/>
            <a:ext cx="269875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16" name="TextBox_16"/>
          <p:cNvSpPr txBox="1"/>
          <p:nvPr/>
        </p:nvSpPr>
        <p:spPr>
          <a:xfrm>
            <a:off x="9074150" y="1117600"/>
            <a:ext cx="2520950" cy="444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50" b="1" dirty="0">
                <a:solidFill>
                  <a:srgbClr val="1E3A8A"/>
                </a:solidFill>
                <a:latin typeface="Microsoft YaHei"/>
                <a:ea typeface="Microsoft YaHei"/>
              </a:rPr>
              <a:t>小票 = Trace 证据链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0" dirty="0">
                <a:solidFill>
                  <a:srgbClr val="4B5563"/>
                </a:solidFill>
                <a:latin typeface="Microsoft YaHei"/>
                <a:ea typeface="Microsoft YaHei"/>
              </a:rPr>
              <a:t>每个数字绑定 evidence_id 与 trace_id 可回放</a:t>
            </a:r>
          </a:p>
        </p:txBody>
      </p:sp>
      <p:sp>
        <p:nvSpPr>
          <p:cNvPr id="17" name="Rect_17"/>
          <p:cNvSpPr/>
          <p:nvPr/>
        </p:nvSpPr>
        <p:spPr>
          <a:xfrm>
            <a:off x="508000" y="1727200"/>
            <a:ext cx="1524000" cy="368300"/>
          </a:xfrm>
          <a:prstGeom prst="rect">
            <a:avLst/>
          </a:prstGeom>
          <a:solidFill>
            <a:srgbClr val="EFECE6"/>
          </a:solidFill>
          <a:ln w="12700">
            <a:solidFill>
              <a:srgbClr val="D6D3CD"/>
            </a:solidFill>
          </a:ln>
        </p:spPr>
      </p:sp>
      <p:sp>
        <p:nvSpPr>
          <p:cNvPr id="18" name="TextBox_18"/>
          <p:cNvSpPr txBox="1"/>
          <p:nvPr/>
        </p:nvSpPr>
        <p:spPr>
          <a:xfrm>
            <a:off x="584200" y="1778000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111827"/>
                </a:solidFill>
                <a:latin typeface="Microsoft YaHei"/>
                <a:ea typeface="Microsoft YaHei"/>
              </a:rPr>
              <a:t>核心对比维度</a:t>
            </a:r>
          </a:p>
        </p:txBody>
      </p:sp>
      <p:sp>
        <p:nvSpPr>
          <p:cNvPr id="19" name="Rect_19"/>
          <p:cNvSpPr/>
          <p:nvPr/>
        </p:nvSpPr>
        <p:spPr>
          <a:xfrm>
            <a:off x="2032000" y="1727200"/>
            <a:ext cx="2667000" cy="368300"/>
          </a:xfrm>
          <a:prstGeom prst="rect">
            <a:avLst/>
          </a:prstGeom>
          <a:solidFill>
            <a:srgbClr val="EFECE6"/>
          </a:solidFill>
          <a:ln w="12700">
            <a:solidFill>
              <a:srgbClr val="D6D3CD"/>
            </a:solidFill>
          </a:ln>
        </p:spPr>
      </p:sp>
      <p:sp>
        <p:nvSpPr>
          <p:cNvPr id="20" name="TextBox_20"/>
          <p:cNvSpPr txBox="1"/>
          <p:nvPr/>
        </p:nvSpPr>
        <p:spPr>
          <a:xfrm>
            <a:off x="2108200" y="17780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111827"/>
                </a:solidFill>
                <a:latin typeface="Microsoft YaHei"/>
                <a:ea typeface="Microsoft YaHei"/>
              </a:rPr>
              <a:t>传统 BI 报表 / 数据看板</a:t>
            </a:r>
          </a:p>
        </p:txBody>
      </p:sp>
      <p:sp>
        <p:nvSpPr>
          <p:cNvPr id="21" name="Rect_21"/>
          <p:cNvSpPr/>
          <p:nvPr/>
        </p:nvSpPr>
        <p:spPr>
          <a:xfrm>
            <a:off x="4699000" y="1727200"/>
            <a:ext cx="2921000" cy="368300"/>
          </a:xfrm>
          <a:prstGeom prst="rect">
            <a:avLst/>
          </a:prstGeom>
          <a:solidFill>
            <a:srgbClr val="EFECE6"/>
          </a:solidFill>
          <a:ln w="12700">
            <a:solidFill>
              <a:srgbClr val="D6D3CD"/>
            </a:solidFill>
          </a:ln>
        </p:spPr>
      </p:sp>
      <p:sp>
        <p:nvSpPr>
          <p:cNvPr id="22" name="TextBox_22"/>
          <p:cNvSpPr txBox="1"/>
          <p:nvPr/>
        </p:nvSpPr>
        <p:spPr>
          <a:xfrm>
            <a:off x="4775200" y="1778000"/>
            <a:ext cx="2768600" cy="2667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111827"/>
                </a:solidFill>
                <a:latin typeface="Microsoft YaHei"/>
                <a:ea typeface="Microsoft YaHei"/>
              </a:rPr>
              <a:t>传统 AI Agent / Text-to-SQL</a:t>
            </a:r>
          </a:p>
        </p:txBody>
      </p:sp>
      <p:sp>
        <p:nvSpPr>
          <p:cNvPr id="23" name="Rect_23"/>
          <p:cNvSpPr/>
          <p:nvPr/>
        </p:nvSpPr>
        <p:spPr>
          <a:xfrm>
            <a:off x="7620000" y="1727200"/>
            <a:ext cx="4064000" cy="3683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</p:sp>
      <p:sp>
        <p:nvSpPr>
          <p:cNvPr id="24" name="TextBox_24"/>
          <p:cNvSpPr txBox="1"/>
          <p:nvPr/>
        </p:nvSpPr>
        <p:spPr>
          <a:xfrm>
            <a:off x="7696200" y="1778000"/>
            <a:ext cx="3911600" cy="2667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FFFFFF"/>
                </a:solidFill>
                <a:latin typeface="Microsoft YaHei"/>
                <a:ea typeface="Microsoft YaHei"/>
              </a:rPr>
              <a:t>✦ 莱森购 Retail Intelligence Agent（本项目）</a:t>
            </a:r>
          </a:p>
        </p:txBody>
      </p:sp>
      <p:sp>
        <p:nvSpPr>
          <p:cNvPr id="25" name="Rect_25"/>
          <p:cNvSpPr/>
          <p:nvPr/>
        </p:nvSpPr>
        <p:spPr>
          <a:xfrm>
            <a:off x="508000" y="2095500"/>
            <a:ext cx="1524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26" name="TextBox_26"/>
          <p:cNvSpPr txBox="1"/>
          <p:nvPr/>
        </p:nvSpPr>
        <p:spPr>
          <a:xfrm>
            <a:off x="596900" y="2159000"/>
            <a:ext cx="134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11827"/>
                </a:solidFill>
                <a:latin typeface="Microsoft YaHei"/>
                <a:ea typeface="Microsoft YaHei"/>
              </a:rPr>
              <a:t>1. 指标计算与口径</a:t>
            </a:r>
          </a:p>
        </p:txBody>
      </p:sp>
      <p:sp>
        <p:nvSpPr>
          <p:cNvPr id="27" name="Rect_27"/>
          <p:cNvSpPr/>
          <p:nvPr/>
        </p:nvSpPr>
        <p:spPr>
          <a:xfrm>
            <a:off x="2032000" y="2095500"/>
            <a:ext cx="2667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28" name="TextBox_28"/>
          <p:cNvSpPr txBox="1"/>
          <p:nvPr/>
        </p:nvSpPr>
        <p:spPr>
          <a:xfrm>
            <a:off x="2120900" y="2159000"/>
            <a:ext cx="2489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111827"/>
                </a:solidFill>
                <a:latin typeface="Microsoft YaHei"/>
                <a:ea typeface="Microsoft YaHei"/>
              </a:rPr>
              <a:t>固定图表展示，跨维拆解需人工导出 Excel 计算</a:t>
            </a:r>
          </a:p>
        </p:txBody>
      </p:sp>
      <p:sp>
        <p:nvSpPr>
          <p:cNvPr id="29" name="Rect_29"/>
          <p:cNvSpPr/>
          <p:nvPr/>
        </p:nvSpPr>
        <p:spPr>
          <a:xfrm>
            <a:off x="4699000" y="2095500"/>
            <a:ext cx="2921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30" name="TextBox_30"/>
          <p:cNvSpPr txBox="1"/>
          <p:nvPr/>
        </p:nvSpPr>
        <p:spPr>
          <a:xfrm>
            <a:off x="4787900" y="2159000"/>
            <a:ext cx="2743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9A3412"/>
                </a:solidFill>
                <a:latin typeface="Microsoft YaHei"/>
                <a:ea typeface="Microsoft YaHei"/>
              </a:rPr>
              <a:t>LLM 现场写 SQL 或心算，易把每日比率简单平均、混淆含税/扣退口径</a:t>
            </a:r>
          </a:p>
        </p:txBody>
      </p:sp>
      <p:sp>
        <p:nvSpPr>
          <p:cNvPr id="31" name="Rect_31"/>
          <p:cNvSpPr/>
          <p:nvPr/>
        </p:nvSpPr>
        <p:spPr>
          <a:xfrm>
            <a:off x="7620000" y="2095500"/>
            <a:ext cx="4064000" cy="8255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</p:sp>
      <p:sp>
        <p:nvSpPr>
          <p:cNvPr id="32" name="TextBox_32"/>
          <p:cNvSpPr txBox="1"/>
          <p:nvPr/>
        </p:nvSpPr>
        <p:spPr>
          <a:xfrm>
            <a:off x="7708900" y="2159000"/>
            <a:ext cx="388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E3A8A"/>
                </a:solidFill>
                <a:latin typeface="Microsoft YaHei"/>
                <a:ea typeface="Microsoft YaHei"/>
              </a:rPr>
              <a:t>先聚合再算比率（SUM(sales)/NULLIF(SUM(orders),0)），自动拆解订单量与客单价双因子，100% 财务口径对齐</a:t>
            </a:r>
          </a:p>
        </p:txBody>
      </p:sp>
      <p:sp>
        <p:nvSpPr>
          <p:cNvPr id="33" name="Rect_33"/>
          <p:cNvSpPr/>
          <p:nvPr/>
        </p:nvSpPr>
        <p:spPr>
          <a:xfrm>
            <a:off x="508000" y="2921000"/>
            <a:ext cx="1524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34" name="TextBox_34"/>
          <p:cNvSpPr txBox="1"/>
          <p:nvPr/>
        </p:nvSpPr>
        <p:spPr>
          <a:xfrm>
            <a:off x="596900" y="2984500"/>
            <a:ext cx="134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11827"/>
                </a:solidFill>
                <a:latin typeface="Microsoft YaHei"/>
                <a:ea typeface="Microsoft YaHei"/>
              </a:rPr>
              <a:t>2. 异常判定与归因</a:t>
            </a:r>
          </a:p>
        </p:txBody>
      </p:sp>
      <p:sp>
        <p:nvSpPr>
          <p:cNvPr id="35" name="Rect_35"/>
          <p:cNvSpPr/>
          <p:nvPr/>
        </p:nvSpPr>
        <p:spPr>
          <a:xfrm>
            <a:off x="2032000" y="2921000"/>
            <a:ext cx="2667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36" name="TextBox_36"/>
          <p:cNvSpPr txBox="1"/>
          <p:nvPr/>
        </p:nvSpPr>
        <p:spPr>
          <a:xfrm>
            <a:off x="2120900" y="2984500"/>
            <a:ext cx="2489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111827"/>
                </a:solidFill>
                <a:latin typeface="Microsoft YaHei"/>
                <a:ea typeface="Microsoft YaHei"/>
              </a:rPr>
              <a:t>仅提供红绿阈值高亮，靠运营人员凭经验猜原因</a:t>
            </a:r>
          </a:p>
        </p:txBody>
      </p:sp>
      <p:sp>
        <p:nvSpPr>
          <p:cNvPr id="37" name="Rect_37"/>
          <p:cNvSpPr/>
          <p:nvPr/>
        </p:nvSpPr>
        <p:spPr>
          <a:xfrm>
            <a:off x="4699000" y="2921000"/>
            <a:ext cx="2921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38" name="TextBox_38"/>
          <p:cNvSpPr txBox="1"/>
          <p:nvPr/>
        </p:nvSpPr>
        <p:spPr>
          <a:xfrm>
            <a:off x="4787900" y="2984500"/>
            <a:ext cx="2743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9A3412"/>
                </a:solidFill>
                <a:latin typeface="Microsoft YaHei"/>
                <a:ea typeface="Microsoft YaHei"/>
              </a:rPr>
              <a:t>单指标下滑即武断定性，甚至编造输入数据中不存在的根因与责任人</a:t>
            </a:r>
          </a:p>
        </p:txBody>
      </p:sp>
      <p:sp>
        <p:nvSpPr>
          <p:cNvPr id="39" name="Rect_39"/>
          <p:cNvSpPr/>
          <p:nvPr/>
        </p:nvSpPr>
        <p:spPr>
          <a:xfrm>
            <a:off x="7620000" y="2921000"/>
            <a:ext cx="4064000" cy="8255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</p:sp>
      <p:sp>
        <p:nvSpPr>
          <p:cNvPr id="40" name="TextBox_40"/>
          <p:cNvSpPr txBox="1"/>
          <p:nvPr/>
        </p:nvSpPr>
        <p:spPr>
          <a:xfrm>
            <a:off x="7708900" y="2984500"/>
            <a:ext cx="388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E3A8A"/>
                </a:solidFill>
                <a:latin typeface="Microsoft YaHei"/>
                <a:ea typeface="Microsoft YaHei"/>
              </a:rPr>
              <a:t>多条件确定性规则判定（store_anomaly_v1 至少命中2项）+ 全区域同步波动识别 + 挂载结构化 SOP 知识库</a:t>
            </a:r>
          </a:p>
        </p:txBody>
      </p:sp>
      <p:sp>
        <p:nvSpPr>
          <p:cNvPr id="41" name="Rect_41"/>
          <p:cNvSpPr/>
          <p:nvPr/>
        </p:nvSpPr>
        <p:spPr>
          <a:xfrm>
            <a:off x="508000" y="3746500"/>
            <a:ext cx="1524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42" name="TextBox_42"/>
          <p:cNvSpPr txBox="1"/>
          <p:nvPr/>
        </p:nvSpPr>
        <p:spPr>
          <a:xfrm>
            <a:off x="596900" y="3810000"/>
            <a:ext cx="134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11827"/>
                </a:solidFill>
                <a:latin typeface="Microsoft YaHei"/>
                <a:ea typeface="Microsoft YaHei"/>
              </a:rPr>
              <a:t>3. 数据缺失与边界护栏</a:t>
            </a:r>
          </a:p>
        </p:txBody>
      </p:sp>
      <p:sp>
        <p:nvSpPr>
          <p:cNvPr id="43" name="Rect_43"/>
          <p:cNvSpPr/>
          <p:nvPr/>
        </p:nvSpPr>
        <p:spPr>
          <a:xfrm>
            <a:off x="2032000" y="3746500"/>
            <a:ext cx="2667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44" name="TextBox_44"/>
          <p:cNvSpPr txBox="1"/>
          <p:nvPr/>
        </p:nvSpPr>
        <p:spPr>
          <a:xfrm>
            <a:off x="2120900" y="3810000"/>
            <a:ext cx="2489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111827"/>
                </a:solidFill>
                <a:latin typeface="Microsoft YaHei"/>
                <a:ea typeface="Microsoft YaHei"/>
              </a:rPr>
              <a:t>直接显示空值 NaN 或报错图表</a:t>
            </a:r>
          </a:p>
        </p:txBody>
      </p:sp>
      <p:sp>
        <p:nvSpPr>
          <p:cNvPr id="45" name="Rect_45"/>
          <p:cNvSpPr/>
          <p:nvPr/>
        </p:nvSpPr>
        <p:spPr>
          <a:xfrm>
            <a:off x="4699000" y="3746500"/>
            <a:ext cx="2921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46" name="TextBox_46"/>
          <p:cNvSpPr txBox="1"/>
          <p:nvPr/>
        </p:nvSpPr>
        <p:spPr>
          <a:xfrm>
            <a:off x="4787900" y="3810000"/>
            <a:ext cx="2743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9A3412"/>
                </a:solidFill>
                <a:latin typeface="Microsoft YaHei"/>
                <a:ea typeface="Microsoft YaHei"/>
              </a:rPr>
              <a:t>靠提示词软约束，极易强行幻觉作答，无视样本量不足</a:t>
            </a:r>
          </a:p>
        </p:txBody>
      </p:sp>
      <p:sp>
        <p:nvSpPr>
          <p:cNvPr id="47" name="Rect_47"/>
          <p:cNvSpPr/>
          <p:nvPr/>
        </p:nvSpPr>
        <p:spPr>
          <a:xfrm>
            <a:off x="7620000" y="3746500"/>
            <a:ext cx="4064000" cy="8255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</p:sp>
      <p:sp>
        <p:nvSpPr>
          <p:cNvPr id="48" name="TextBox_48"/>
          <p:cNvSpPr txBox="1"/>
          <p:nvPr/>
        </p:nvSpPr>
        <p:spPr>
          <a:xfrm>
            <a:off x="7708900" y="3810000"/>
            <a:ext cx="388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E3A8A"/>
                </a:solidFill>
                <a:latin typeface="Microsoft YaHei"/>
                <a:ea typeface="Microsoft YaHei"/>
              </a:rPr>
              <a:t>硬核降级机制：可比门店 &lt; 3家 或缺 CAPEX 成本时（如南关区），强制返回 insufficient 拒算回本期，诚实守界</a:t>
            </a:r>
          </a:p>
        </p:txBody>
      </p:sp>
      <p:sp>
        <p:nvSpPr>
          <p:cNvPr id="49" name="Rect_49"/>
          <p:cNvSpPr/>
          <p:nvPr/>
        </p:nvSpPr>
        <p:spPr>
          <a:xfrm>
            <a:off x="508000" y="4572000"/>
            <a:ext cx="1524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50" name="TextBox_50"/>
          <p:cNvSpPr txBox="1"/>
          <p:nvPr/>
        </p:nvSpPr>
        <p:spPr>
          <a:xfrm>
            <a:off x="596900" y="4635500"/>
            <a:ext cx="134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11827"/>
                </a:solidFill>
                <a:latin typeface="Microsoft YaHei"/>
                <a:ea typeface="Microsoft YaHei"/>
              </a:rPr>
              <a:t>4. 触发模式</a:t>
            </a:r>
          </a:p>
        </p:txBody>
      </p:sp>
      <p:sp>
        <p:nvSpPr>
          <p:cNvPr id="51" name="Rect_51"/>
          <p:cNvSpPr/>
          <p:nvPr/>
        </p:nvSpPr>
        <p:spPr>
          <a:xfrm>
            <a:off x="2032000" y="4572000"/>
            <a:ext cx="2667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52" name="TextBox_52"/>
          <p:cNvSpPr txBox="1"/>
          <p:nvPr/>
        </p:nvSpPr>
        <p:spPr>
          <a:xfrm>
            <a:off x="2120900" y="4635500"/>
            <a:ext cx="2489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111827"/>
                </a:solidFill>
                <a:latin typeface="Microsoft YaHei"/>
                <a:ea typeface="Microsoft YaHei"/>
              </a:rPr>
              <a:t>纯被动：人打开网页看表</a:t>
            </a:r>
          </a:p>
        </p:txBody>
      </p:sp>
      <p:sp>
        <p:nvSpPr>
          <p:cNvPr id="53" name="Rect_53"/>
          <p:cNvSpPr/>
          <p:nvPr/>
        </p:nvSpPr>
        <p:spPr>
          <a:xfrm>
            <a:off x="4699000" y="4572000"/>
            <a:ext cx="2921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54" name="TextBox_54"/>
          <p:cNvSpPr txBox="1"/>
          <p:nvPr/>
        </p:nvSpPr>
        <p:spPr>
          <a:xfrm>
            <a:off x="4787900" y="4635500"/>
            <a:ext cx="2743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9A3412"/>
                </a:solidFill>
                <a:latin typeface="Microsoft YaHei"/>
                <a:ea typeface="Microsoft YaHei"/>
              </a:rPr>
              <a:t>纯被动：人输入问题才回复</a:t>
            </a:r>
          </a:p>
        </p:txBody>
      </p:sp>
      <p:sp>
        <p:nvSpPr>
          <p:cNvPr id="55" name="Rect_55"/>
          <p:cNvSpPr/>
          <p:nvPr/>
        </p:nvSpPr>
        <p:spPr>
          <a:xfrm>
            <a:off x="7620000" y="4572000"/>
            <a:ext cx="4064000" cy="8255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</p:sp>
      <p:sp>
        <p:nvSpPr>
          <p:cNvPr id="56" name="TextBox_56"/>
          <p:cNvSpPr txBox="1"/>
          <p:nvPr/>
        </p:nvSpPr>
        <p:spPr>
          <a:xfrm>
            <a:off x="7708900" y="4635500"/>
            <a:ext cx="388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E3A8A"/>
                </a:solidFill>
                <a:latin typeface="Microsoft YaHei"/>
                <a:ea typeface="Microsoft YaHei"/>
              </a:rPr>
              <a:t>双轮驱动：人主动自然语言问数 + IoT 心跳主动监控 Loop（离线 5min 告警并自动唤醒 Agent 预审计）</a:t>
            </a:r>
          </a:p>
        </p:txBody>
      </p:sp>
      <p:sp>
        <p:nvSpPr>
          <p:cNvPr id="57" name="Rect_57"/>
          <p:cNvSpPr/>
          <p:nvPr/>
        </p:nvSpPr>
        <p:spPr>
          <a:xfrm>
            <a:off x="508000" y="5397500"/>
            <a:ext cx="1524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58" name="TextBox_58"/>
          <p:cNvSpPr txBox="1"/>
          <p:nvPr/>
        </p:nvSpPr>
        <p:spPr>
          <a:xfrm>
            <a:off x="596900" y="5461000"/>
            <a:ext cx="134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11827"/>
                </a:solidFill>
                <a:latin typeface="Microsoft YaHei"/>
                <a:ea typeface="Microsoft YaHei"/>
              </a:rPr>
              <a:t>5. 决策落地与闭环</a:t>
            </a:r>
          </a:p>
        </p:txBody>
      </p:sp>
      <p:sp>
        <p:nvSpPr>
          <p:cNvPr id="59" name="Rect_59"/>
          <p:cNvSpPr/>
          <p:nvPr/>
        </p:nvSpPr>
        <p:spPr>
          <a:xfrm>
            <a:off x="2032000" y="5397500"/>
            <a:ext cx="2667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60" name="TextBox_60"/>
          <p:cNvSpPr txBox="1"/>
          <p:nvPr/>
        </p:nvSpPr>
        <p:spPr>
          <a:xfrm>
            <a:off x="2120900" y="5461000"/>
            <a:ext cx="2489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111827"/>
                </a:solidFill>
                <a:latin typeface="Microsoft YaHei"/>
                <a:ea typeface="Microsoft YaHei"/>
              </a:rPr>
              <a:t>止步于图表浏览，无任务系统</a:t>
            </a:r>
          </a:p>
        </p:txBody>
      </p:sp>
      <p:sp>
        <p:nvSpPr>
          <p:cNvPr id="61" name="Rect_61"/>
          <p:cNvSpPr/>
          <p:nvPr/>
        </p:nvSpPr>
        <p:spPr>
          <a:xfrm>
            <a:off x="4699000" y="5397500"/>
            <a:ext cx="29210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62" name="TextBox_62"/>
          <p:cNvSpPr txBox="1"/>
          <p:nvPr/>
        </p:nvSpPr>
        <p:spPr>
          <a:xfrm>
            <a:off x="4787900" y="5461000"/>
            <a:ext cx="2743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0" dirty="0">
                <a:solidFill>
                  <a:srgbClr val="9A3412"/>
                </a:solidFill>
                <a:latin typeface="Microsoft YaHei"/>
                <a:ea typeface="Microsoft YaHei"/>
              </a:rPr>
              <a:t>止步于聊天框建议，甚至危险地自动执行写操作</a:t>
            </a:r>
          </a:p>
        </p:txBody>
      </p:sp>
      <p:sp>
        <p:nvSpPr>
          <p:cNvPr id="63" name="Rect_63"/>
          <p:cNvSpPr/>
          <p:nvPr/>
        </p:nvSpPr>
        <p:spPr>
          <a:xfrm>
            <a:off x="7620000" y="5397500"/>
            <a:ext cx="4064000" cy="8255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</p:sp>
      <p:sp>
        <p:nvSpPr>
          <p:cNvPr id="64" name="TextBox_64"/>
          <p:cNvSpPr txBox="1"/>
          <p:nvPr/>
        </p:nvSpPr>
        <p:spPr>
          <a:xfrm>
            <a:off x="7708900" y="5461000"/>
            <a:ext cx="3886200" cy="698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20" b="1" dirty="0">
                <a:solidFill>
                  <a:srgbClr val="1E3A8A"/>
                </a:solidFill>
                <a:latin typeface="Microsoft YaHei"/>
                <a:ea typeface="Microsoft YaHei"/>
              </a:rPr>
              <a:t>人机协同状态机：生成结构化行动卡 → 人工确认护栏 → 派单限办 → 下一周期 verify_task 自动核验关闭/升级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TextBox_3"/>
          <p:cNvSpPr txBox="1"/>
          <p:nvPr/>
        </p:nvSpPr>
        <p:spPr>
          <a:xfrm>
            <a:off x="508000" y="228600"/>
            <a:ext cx="8572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050" b="1" dirty="0">
                <a:solidFill>
                  <a:srgbClr val="1E3A8A"/>
                </a:solidFill>
                <a:latin typeface="Microsoft YaHei"/>
                <a:ea typeface="Microsoft YaHei"/>
              </a:rPr>
              <a:t>03 · CORE SHOWCASE PART I — DETERMINISTIC ENGINE &amp; PROACTIVE LOOP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111827"/>
                </a:solidFill>
                <a:latin typeface="Microsoft YaHei"/>
                <a:ea typeface="Microsoft YaHei"/>
              </a:rPr>
              <a:t>核心部分展示（一）：确定性审计对标引擎 + IoT 主动监控闭环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00" b="0" dirty="0">
                <a:solidFill>
                  <a:srgbClr val="4B5563"/>
                </a:solidFill>
                <a:latin typeface="Microsoft YaHei"/>
                <a:ea typeface="Microsoft YaHei"/>
              </a:rPr>
              <a:t>以长春 5 店真实切片数据（demo_v1）为例：从全局态势、单店归因、区域 ROI 到毫秒级心跳告警</a:t>
            </a:r>
          </a:p>
        </p:txBody>
      </p:sp>
      <p:sp>
        <p:nvSpPr>
          <p:cNvPr id="4" name="TextBox_4"/>
          <p:cNvSpPr txBox="1"/>
          <p:nvPr/>
        </p:nvSpPr>
        <p:spPr>
          <a:xfrm>
            <a:off x="9652000" y="279400"/>
            <a:ext cx="2032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txBody>
          <a:bodyPr wrap="square" lIns="50800" tIns="38100" rIns="50800" bIns="38100" anchor="ctr"/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1" dirty="0">
                <a:solidFill>
                  <a:srgbClr val="C2410C"/>
                </a:solidFill>
                <a:latin typeface="Microsoft YaHei"/>
                <a:ea typeface="Microsoft YaHei"/>
              </a:rPr>
              <a:t>⏱ 路演计时：1:00 - 1:25 (25秒 · P4/6)</a:t>
            </a:r>
          </a:p>
        </p:txBody>
      </p:sp>
      <p:sp>
        <p:nvSpPr>
          <p:cNvPr id="5" name="Rect_5"/>
          <p:cNvSpPr/>
          <p:nvPr/>
        </p:nvSpPr>
        <p:spPr>
          <a:xfrm>
            <a:off x="508000" y="939800"/>
            <a:ext cx="11176000" cy="12700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6" name="Rect_6"/>
          <p:cNvSpPr/>
          <p:nvPr/>
        </p:nvSpPr>
        <p:spPr>
          <a:xfrm>
            <a:off x="508000" y="6426200"/>
            <a:ext cx="11176000" cy="9525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7" name="TextBox_7"/>
          <p:cNvSpPr txBox="1"/>
          <p:nvPr/>
        </p:nvSpPr>
        <p:spPr>
          <a:xfrm>
            <a:off x="508000" y="64770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1" dirty="0">
                <a:solidFill>
                  <a:srgbClr val="4B5563"/>
                </a:solidFill>
                <a:latin typeface="Microsoft YaHei"/>
                <a:ea typeface="Microsoft YaHei"/>
              </a:rPr>
              <a:t>莱森购 Retail Intelligence Agent  |  P4 · 核心部分展示（上）</a:t>
            </a:r>
          </a:p>
        </p:txBody>
      </p:sp>
      <p:sp>
        <p:nvSpPr>
          <p:cNvPr id="8" name="TextBox_8"/>
          <p:cNvSpPr txBox="1"/>
          <p:nvPr/>
        </p:nvSpPr>
        <p:spPr>
          <a:xfrm>
            <a:off x="5397500" y="6477000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6B7280"/>
                </a:solidFill>
                <a:latin typeface="Microsoft YaHei"/>
                <a:ea typeface="Microsoft YaHei"/>
              </a:rPr>
              <a:t>区分四类严谨审计状态：正常 / 疑似异常 / 证据不足 (insufficient) / 无法判断 (unavailable)</a:t>
            </a:r>
          </a:p>
        </p:txBody>
      </p:sp>
      <p:sp>
        <p:nvSpPr>
          <p:cNvPr id="9" name="Rect_9"/>
          <p:cNvSpPr/>
          <p:nvPr/>
        </p:nvSpPr>
        <p:spPr>
          <a:xfrm>
            <a:off x="508000" y="1092200"/>
            <a:ext cx="1358900" cy="92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0" name="TextBox_10"/>
          <p:cNvSpPr txBox="1"/>
          <p:nvPr/>
        </p:nvSpPr>
        <p:spPr>
          <a:xfrm>
            <a:off x="584200" y="1155700"/>
            <a:ext cx="1206500" cy="793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b="1" dirty="0">
                <a:solidFill>
                  <a:srgbClr val="6B7280"/>
                </a:solidFill>
                <a:latin typeface="Microsoft YaHei"/>
                <a:ea typeface="Microsoft YaHei"/>
              </a:rPr>
              <a:t>长春全市 7日总销额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800" b="1" dirty="0">
                <a:solidFill>
                  <a:srgbClr val="111827"/>
                </a:solidFill>
                <a:latin typeface="Microsoft YaHei"/>
                <a:ea typeface="Microsoft YaHei"/>
              </a:rPr>
              <a:t>¥105.4万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4B5563"/>
                </a:solidFill>
                <a:latin typeface="Microsoft YaHei"/>
                <a:ea typeface="Microsoft YaHei"/>
              </a:rPr>
              <a:t>利润 ¥21.8万 · 5城区</a:t>
            </a:r>
          </a:p>
        </p:txBody>
      </p:sp>
      <p:sp>
        <p:nvSpPr>
          <p:cNvPr id="11" name="Rect_11"/>
          <p:cNvSpPr/>
          <p:nvPr/>
        </p:nvSpPr>
        <p:spPr>
          <a:xfrm>
            <a:off x="1955800" y="1092200"/>
            <a:ext cx="1358900" cy="92075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</p:sp>
      <p:sp>
        <p:nvSpPr>
          <p:cNvPr id="12" name="TextBox_12"/>
          <p:cNvSpPr txBox="1"/>
          <p:nvPr/>
        </p:nvSpPr>
        <p:spPr>
          <a:xfrm>
            <a:off x="2032000" y="1155700"/>
            <a:ext cx="1206500" cy="793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b="1" dirty="0">
                <a:solidFill>
                  <a:srgbClr val="6B7280"/>
                </a:solidFill>
                <a:latin typeface="Microsoft YaHei"/>
                <a:ea typeface="Microsoft YaHei"/>
              </a:rPr>
              <a:t>朝阳 A店 · 高危异常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800" b="1" dirty="0">
                <a:solidFill>
                  <a:srgbClr val="C2410C"/>
                </a:solidFill>
                <a:latin typeface="Microsoft YaHei"/>
                <a:ea typeface="Microsoft YaHei"/>
              </a:rPr>
              <a:t>退款率 7.0%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4B5563"/>
                </a:solidFill>
                <a:latin typeface="Microsoft YaHei"/>
                <a:ea typeface="Microsoft YaHei"/>
              </a:rPr>
              <a:t>同城中位 2.1% | 订单 -31%</a:t>
            </a:r>
          </a:p>
        </p:txBody>
      </p:sp>
      <p:sp>
        <p:nvSpPr>
          <p:cNvPr id="13" name="Rect_13"/>
          <p:cNvSpPr/>
          <p:nvPr/>
        </p:nvSpPr>
        <p:spPr>
          <a:xfrm>
            <a:off x="3403600" y="1092200"/>
            <a:ext cx="1358900" cy="92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4" name="TextBox_14"/>
          <p:cNvSpPr txBox="1"/>
          <p:nvPr/>
        </p:nvSpPr>
        <p:spPr>
          <a:xfrm>
            <a:off x="3479800" y="1155700"/>
            <a:ext cx="1206500" cy="793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b="1" dirty="0">
                <a:solidFill>
                  <a:srgbClr val="6B7280"/>
                </a:solidFill>
                <a:latin typeface="Microsoft YaHei"/>
                <a:ea typeface="Microsoft YaHei"/>
              </a:rPr>
              <a:t>朝阳区 · 投放评分榜首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800" b="1" dirty="0">
                <a:solidFill>
                  <a:srgbClr val="1E3A8A"/>
                </a:solidFill>
                <a:latin typeface="Microsoft YaHei"/>
                <a:ea typeface="Microsoft YaHei"/>
              </a:rPr>
              <a:t>81.9 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4B5563"/>
                </a:solidFill>
                <a:latin typeface="Microsoft YaHei"/>
                <a:ea typeface="Microsoft YaHei"/>
              </a:rPr>
              <a:t>回本 8.4个月 (月利4.28万)</a:t>
            </a:r>
          </a:p>
        </p:txBody>
      </p:sp>
      <p:sp>
        <p:nvSpPr>
          <p:cNvPr id="15" name="Rect_15"/>
          <p:cNvSpPr/>
          <p:nvPr/>
        </p:nvSpPr>
        <p:spPr>
          <a:xfrm>
            <a:off x="4851400" y="1092200"/>
            <a:ext cx="1358900" cy="92075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</p:sp>
      <p:sp>
        <p:nvSpPr>
          <p:cNvPr id="16" name="TextBox_16"/>
          <p:cNvSpPr txBox="1"/>
          <p:nvPr/>
        </p:nvSpPr>
        <p:spPr>
          <a:xfrm>
            <a:off x="4927600" y="1155700"/>
            <a:ext cx="1206500" cy="793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050" b="1" dirty="0">
                <a:solidFill>
                  <a:srgbClr val="6B7280"/>
                </a:solidFill>
                <a:latin typeface="Microsoft YaHei"/>
                <a:ea typeface="Microsoft YaHei"/>
              </a:rPr>
              <a:t>南关区 · 数据缺失降级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800" b="1" dirty="0">
                <a:solidFill>
                  <a:srgbClr val="B45309"/>
                </a:solidFill>
                <a:latin typeface="Microsoft YaHei"/>
                <a:ea typeface="Microsoft YaHei"/>
              </a:rPr>
              <a:t>回本期 NULL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4B5563"/>
                </a:solidFill>
                <a:latin typeface="Microsoft YaHei"/>
                <a:ea typeface="Microsoft YaHei"/>
              </a:rPr>
              <a:t>缺 CAPEX 强制拒算防幻觉</a:t>
            </a:r>
          </a:p>
        </p:txBody>
      </p:sp>
      <p:sp>
        <p:nvSpPr>
          <p:cNvPr id="17" name="Rect_17"/>
          <p:cNvSpPr/>
          <p:nvPr/>
        </p:nvSpPr>
        <p:spPr>
          <a:xfrm>
            <a:off x="508000" y="2146300"/>
            <a:ext cx="570230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8" name="Rect_18"/>
          <p:cNvSpPr/>
          <p:nvPr/>
        </p:nvSpPr>
        <p:spPr>
          <a:xfrm>
            <a:off x="508000" y="2146300"/>
            <a:ext cx="5702300" cy="444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9" name="TextBox_19"/>
          <p:cNvSpPr txBox="1"/>
          <p:nvPr/>
        </p:nvSpPr>
        <p:spPr>
          <a:xfrm>
            <a:off x="660400" y="2273300"/>
            <a:ext cx="5397500" cy="16192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b="1" dirty="0">
                <a:solidFill>
                  <a:srgbClr val="1E3A8A"/>
                </a:solidFill>
                <a:latin typeface="Microsoft YaHei"/>
                <a:ea typeface="Microsoft YaHei"/>
              </a:rPr>
              <a:t>核心能力 A · 确定性差距拆解与区域 ROI 评分（metric_service + rule_engine）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zh-CN" altLang="en-US" sz="1250" b="0" dirty="0">
                <a:solidFill>
                  <a:srgbClr val="374151"/>
                </a:solidFill>
                <a:latin typeface="Microsoft YaHei"/>
                <a:ea typeface="Microsoft YaHei"/>
              </a:rPr>
              <a:t>• 双因子归因拆解：朝阳 A 店销售额较基线下跌 -28.0%（¥23.89万 → ¥17.20万），引擎自动拆解出【订单量暴跌 -31.0%】为主因，叠加退款率 7.0% 命中高风险规则，避免把客流异常误判为客单价问题。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0" dirty="0">
                <a:solidFill>
                  <a:srgbClr val="374151"/>
                </a:solidFill>
                <a:latin typeface="Microsoft YaHei"/>
                <a:ea typeface="Microsoft YaHei"/>
              </a:rPr>
              <a:t>• 区域投放 ROI 确定性模型：Score = w1·需求 + w2·竞品 + w3·毛利 - w4·成本。权重由配置文件锁定，LLM 不可篡改；南关区因缺少设备总投入（capex_investment=NULL），强制降级拒算回本周期。</a:t>
            </a:r>
          </a:p>
        </p:txBody>
      </p:sp>
      <p:sp>
        <p:nvSpPr>
          <p:cNvPr id="20" name="Rect_20"/>
          <p:cNvSpPr/>
          <p:nvPr/>
        </p:nvSpPr>
        <p:spPr>
          <a:xfrm>
            <a:off x="508000" y="4127500"/>
            <a:ext cx="5702300" cy="212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21" name="Rect_21"/>
          <p:cNvSpPr/>
          <p:nvPr/>
        </p:nvSpPr>
        <p:spPr>
          <a:xfrm>
            <a:off x="508000" y="4127500"/>
            <a:ext cx="5702300" cy="44450"/>
          </a:xfrm>
          <a:prstGeom prst="rect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22" name="TextBox_22"/>
          <p:cNvSpPr txBox="1"/>
          <p:nvPr/>
        </p:nvSpPr>
        <p:spPr>
          <a:xfrm>
            <a:off x="660400" y="4254500"/>
            <a:ext cx="5397500" cy="18732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b="1" dirty="0">
                <a:solidFill>
                  <a:srgbClr val="15803D"/>
                </a:solidFill>
                <a:latin typeface="Microsoft YaHei"/>
                <a:ea typeface="Microsoft YaHei"/>
              </a:rPr>
              <a:t>核心能力 B · Agent 主动监控 Loop（无需人提问自动唤醒 · src/agent/monitorLoop.js）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b="1" dirty="0">
                <a:solidFill>
                  <a:srgbClr val="111827"/>
                </a:solidFill>
                <a:latin typeface="Microsoft YaHei"/>
                <a:ea typeface="Microsoft YaHei"/>
              </a:rPr>
              <a:t>状态机流转：detected (2min超时) → alerted (5min告警并唤醒Agent审计) → escalated (15min未确认升级) → resolved (心跳恢复结案)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00" b="0" dirty="0">
                <a:solidFill>
                  <a:srgbClr val="374151"/>
                </a:solidFill>
                <a:latin typeface="Microsoft YaHei"/>
                <a:ea typeface="Microsoft YaHei"/>
              </a:rPr>
              <a:t>• 同一设备按 device-offline:{deviceId} 幂等去重；5分钟触发第一封负责人通知并异步调用 Agent 审计链路（保存 agentSummary、agentFindings 与 agentTraceId）。
• 支持站内通知、外部 Webhook 与 QQ 邮箱 SMTP (SSL 465) 异步告警，本地状态持久化至 agent-monitor-state.json 重启不丢失。</a:t>
            </a:r>
          </a:p>
        </p:txBody>
      </p:sp>
      <p:sp>
        <p:nvSpPr>
          <p:cNvPr id="23" name="Rect_23"/>
          <p:cNvSpPr/>
          <p:nvPr/>
        </p:nvSpPr>
        <p:spPr>
          <a:xfrm>
            <a:off x="6381750" y="1092200"/>
            <a:ext cx="5302250" cy="2508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24" name="TextBox_24"/>
          <p:cNvSpPr txBox="1"/>
          <p:nvPr/>
        </p:nvSpPr>
        <p:spPr>
          <a:xfrm>
            <a:off x="6477000" y="11303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1" dirty="0">
                <a:solidFill>
                  <a:srgbClr val="1E3A8A"/>
                </a:solidFill>
                <a:latin typeface="Microsoft YaHei"/>
                <a:ea typeface="Microsoft YaHei"/>
              </a:rPr>
              <a:t>📊 经营驾驶舱与四态审计分布（真实产品视觉概念图 01-paper-navy）</a:t>
            </a:r>
          </a:p>
        </p:txBody>
      </p:sp>
      <p:pic>
        <p:nvPicPr>
          <p:cNvPr id="25" name="Pic_25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477000" y="1346200"/>
            <a:ext cx="5111750" cy="2171700"/>
          </a:xfrm>
          <a:prstGeom prst="rect">
            <a:avLst/>
          </a:prstGeom>
        </p:spPr>
      </p:pic>
      <p:sp>
        <p:nvSpPr>
          <p:cNvPr id="26" name="Rect_26"/>
          <p:cNvSpPr/>
          <p:nvPr/>
        </p:nvSpPr>
        <p:spPr>
          <a:xfrm>
            <a:off x="6381750" y="3746500"/>
            <a:ext cx="5302250" cy="2508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27" name="TextBox_27"/>
          <p:cNvSpPr txBox="1"/>
          <p:nvPr/>
        </p:nvSpPr>
        <p:spPr>
          <a:xfrm>
            <a:off x="6477000" y="37846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1" dirty="0">
                <a:solidFill>
                  <a:srgbClr val="C2410C"/>
                </a:solidFill>
                <a:latin typeface="Microsoft YaHei"/>
                <a:ea typeface="Microsoft YaHei"/>
              </a:rPr>
              <a:t>🔍 门店审计工作台与可比门店对标（真实产品视觉概念图 03-ivory-terracotta）</a:t>
            </a:r>
          </a:p>
        </p:txBody>
      </p:sp>
      <p:pic>
        <p:nvPicPr>
          <p:cNvPr id="28" name="Pic_28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6477000" y="4000500"/>
            <a:ext cx="511175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TextBox_3"/>
          <p:cNvSpPr txBox="1"/>
          <p:nvPr/>
        </p:nvSpPr>
        <p:spPr>
          <a:xfrm>
            <a:off x="508000" y="228600"/>
            <a:ext cx="8572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050" b="1" dirty="0">
                <a:solidFill>
                  <a:srgbClr val="1E3A8A"/>
                </a:solidFill>
                <a:latin typeface="Microsoft YaHei"/>
                <a:ea typeface="Microsoft YaHei"/>
              </a:rPr>
              <a:t>04 · CORE SHOWCASE PART II — 7-LAYER LANGGRAPH AGENT &amp; ACTION VERIFICATION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111827"/>
                </a:solidFill>
                <a:latin typeface="Microsoft YaHei"/>
                <a:ea typeface="Microsoft YaHei"/>
              </a:rPr>
              <a:t>核心部分展示（二）：LangGraph 7层受控编排与“行动—复核”闭环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00" b="0" dirty="0">
                <a:solidFill>
                  <a:srgbClr val="4B5563"/>
                </a:solidFill>
                <a:latin typeface="Microsoft YaHei"/>
                <a:ea typeface="Microsoft YaHei"/>
              </a:rPr>
              <a:t>严禁脱离工具自由裸答（disallowOpenEndedDirectAnswer = true），高风险写操作强制人工确认</a:t>
            </a:r>
          </a:p>
        </p:txBody>
      </p:sp>
      <p:sp>
        <p:nvSpPr>
          <p:cNvPr id="4" name="TextBox_4"/>
          <p:cNvSpPr txBox="1"/>
          <p:nvPr/>
        </p:nvSpPr>
        <p:spPr>
          <a:xfrm>
            <a:off x="9652000" y="279400"/>
            <a:ext cx="2032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txBody>
          <a:bodyPr wrap="square" lIns="50800" tIns="38100" rIns="50800" bIns="38100" anchor="ctr"/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1" dirty="0">
                <a:solidFill>
                  <a:srgbClr val="C2410C"/>
                </a:solidFill>
                <a:latin typeface="Microsoft YaHei"/>
                <a:ea typeface="Microsoft YaHei"/>
              </a:rPr>
              <a:t>⏱ 路演计时：1:25 - 1:45 (20秒 · P5/6)</a:t>
            </a:r>
          </a:p>
        </p:txBody>
      </p:sp>
      <p:sp>
        <p:nvSpPr>
          <p:cNvPr id="5" name="Rect_5"/>
          <p:cNvSpPr/>
          <p:nvPr/>
        </p:nvSpPr>
        <p:spPr>
          <a:xfrm>
            <a:off x="508000" y="939800"/>
            <a:ext cx="11176000" cy="12700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6" name="Rect_6"/>
          <p:cNvSpPr/>
          <p:nvPr/>
        </p:nvSpPr>
        <p:spPr>
          <a:xfrm>
            <a:off x="508000" y="6426200"/>
            <a:ext cx="11176000" cy="9525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7" name="TextBox_7"/>
          <p:cNvSpPr txBox="1"/>
          <p:nvPr/>
        </p:nvSpPr>
        <p:spPr>
          <a:xfrm>
            <a:off x="508000" y="64770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1" dirty="0">
                <a:solidFill>
                  <a:srgbClr val="4B5563"/>
                </a:solidFill>
                <a:latin typeface="Microsoft YaHei"/>
                <a:ea typeface="Microsoft YaHei"/>
              </a:rPr>
              <a:t>莱森购 Retail Intelligence Agent  |  P5 · 核心部分展示（下）</a:t>
            </a:r>
          </a:p>
        </p:txBody>
      </p:sp>
      <p:sp>
        <p:nvSpPr>
          <p:cNvPr id="8" name="TextBox_8"/>
          <p:cNvSpPr txBox="1"/>
          <p:nvPr/>
        </p:nvSpPr>
        <p:spPr>
          <a:xfrm>
            <a:off x="5397500" y="6477000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6B7280"/>
                </a:solidFill>
                <a:latin typeface="Microsoft YaHei"/>
                <a:ea typeface="Microsoft YaHei"/>
              </a:rPr>
              <a:t>7大白名单工具：get_dashboard · run_audit · compare_regions · estimate_region_roi · create_task · verify_task · write_report</a:t>
            </a:r>
          </a:p>
        </p:txBody>
      </p:sp>
      <p:sp>
        <p:nvSpPr>
          <p:cNvPr id="9" name="Rect_9"/>
          <p:cNvSpPr/>
          <p:nvPr/>
        </p:nvSpPr>
        <p:spPr>
          <a:xfrm>
            <a:off x="508000" y="1092200"/>
            <a:ext cx="5461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0" name="TextBox_10"/>
          <p:cNvSpPr txBox="1"/>
          <p:nvPr/>
        </p:nvSpPr>
        <p:spPr>
          <a:xfrm>
            <a:off x="660400" y="1193800"/>
            <a:ext cx="51562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500" b="1" dirty="0">
                <a:solidFill>
                  <a:srgbClr val="1E3A8A"/>
                </a:solidFill>
                <a:latin typeface="Microsoft YaHei"/>
                <a:ea typeface="Microsoft YaHei"/>
              </a:rPr>
              <a:t>LangGraph 7层工程化受控架构（src/agent/）</a:t>
            </a:r>
          </a:p>
        </p:txBody>
      </p:sp>
      <p:sp>
        <p:nvSpPr>
          <p:cNvPr id="11" name="Rect_11"/>
          <p:cNvSpPr/>
          <p:nvPr/>
        </p:nvSpPr>
        <p:spPr>
          <a:xfrm>
            <a:off x="660400" y="1536700"/>
            <a:ext cx="5156200" cy="558800"/>
          </a:xfrm>
          <a:prstGeom prst="rect">
            <a:avLst/>
          </a:prstGeom>
          <a:solidFill>
            <a:srgbClr val="F7F6F2"/>
          </a:solidFill>
          <a:ln w="12700">
            <a:solidFill>
              <a:srgbClr val="E5E0D8"/>
            </a:solidFill>
          </a:ln>
        </p:spPr>
      </p:sp>
      <p:sp>
        <p:nvSpPr>
          <p:cNvPr id="12" name="Rect_12"/>
          <p:cNvSpPr/>
          <p:nvPr/>
        </p:nvSpPr>
        <p:spPr>
          <a:xfrm>
            <a:off x="660400" y="1536700"/>
            <a:ext cx="508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3" name="TextBox_13"/>
          <p:cNvSpPr txBox="1"/>
          <p:nvPr/>
        </p:nvSpPr>
        <p:spPr>
          <a:xfrm>
            <a:off x="787400" y="16002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300" b="1" dirty="0">
                <a:solidFill>
                  <a:srgbClr val="1E3A8A"/>
                </a:solidFill>
                <a:latin typeface="Microsoft YaHei"/>
                <a:ea typeface="Microsoft YaHei"/>
              </a:rPr>
              <a:t>1. 定义层 Definition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374151"/>
                </a:solidFill>
                <a:latin typeface="Microsoft YaHei"/>
                <a:ea typeface="Microsoft YaHei"/>
              </a:rPr>
              <a:t>冻结身份边界、State Schema 与 7 大白名单工具映射 (definition.js)</a:t>
            </a:r>
          </a:p>
        </p:txBody>
      </p:sp>
      <p:sp>
        <p:nvSpPr>
          <p:cNvPr id="14" name="Rect_14"/>
          <p:cNvSpPr/>
          <p:nvPr/>
        </p:nvSpPr>
        <p:spPr>
          <a:xfrm>
            <a:off x="660400" y="2184400"/>
            <a:ext cx="5156200" cy="558800"/>
          </a:xfrm>
          <a:prstGeom prst="rect">
            <a:avLst/>
          </a:prstGeom>
          <a:solidFill>
            <a:srgbClr val="F7F6F2"/>
          </a:solidFill>
          <a:ln w="12700">
            <a:solidFill>
              <a:srgbClr val="E5E0D8"/>
            </a:solidFill>
          </a:ln>
        </p:spPr>
      </p:sp>
      <p:sp>
        <p:nvSpPr>
          <p:cNvPr id="15" name="Rect_15"/>
          <p:cNvSpPr/>
          <p:nvPr/>
        </p:nvSpPr>
        <p:spPr>
          <a:xfrm>
            <a:off x="660400" y="2184400"/>
            <a:ext cx="508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6" name="TextBox_16"/>
          <p:cNvSpPr txBox="1"/>
          <p:nvPr/>
        </p:nvSpPr>
        <p:spPr>
          <a:xfrm>
            <a:off x="787400" y="22479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300" b="1" dirty="0">
                <a:solidFill>
                  <a:srgbClr val="1E3A8A"/>
                </a:solidFill>
                <a:latin typeface="Microsoft YaHei"/>
                <a:ea typeface="Microsoft YaHei"/>
              </a:rPr>
              <a:t>2. 模式层 Pattern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374151"/>
                </a:solidFill>
                <a:latin typeface="Microsoft YaHei"/>
                <a:ea typeface="Microsoft YaHei"/>
              </a:rPr>
              <a:t>意图分类枚举：门店审计 / 区域对比 / 驾驶舱 / 综合分析 / 任务复核 (pattern.js)</a:t>
            </a:r>
          </a:p>
        </p:txBody>
      </p:sp>
      <p:sp>
        <p:nvSpPr>
          <p:cNvPr id="17" name="Rect_17"/>
          <p:cNvSpPr/>
          <p:nvPr/>
        </p:nvSpPr>
        <p:spPr>
          <a:xfrm>
            <a:off x="660400" y="2832100"/>
            <a:ext cx="5156200" cy="558800"/>
          </a:xfrm>
          <a:prstGeom prst="rect">
            <a:avLst/>
          </a:prstGeom>
          <a:solidFill>
            <a:srgbClr val="F7F6F2"/>
          </a:solidFill>
          <a:ln w="12700">
            <a:solidFill>
              <a:srgbClr val="E5E0D8"/>
            </a:solidFill>
          </a:ln>
        </p:spPr>
      </p:sp>
      <p:sp>
        <p:nvSpPr>
          <p:cNvPr id="18" name="Rect_18"/>
          <p:cNvSpPr/>
          <p:nvPr/>
        </p:nvSpPr>
        <p:spPr>
          <a:xfrm>
            <a:off x="660400" y="2832100"/>
            <a:ext cx="508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9" name="TextBox_19"/>
          <p:cNvSpPr txBox="1"/>
          <p:nvPr/>
        </p:nvSpPr>
        <p:spPr>
          <a:xfrm>
            <a:off x="787400" y="28956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300" b="1" dirty="0">
                <a:solidFill>
                  <a:srgbClr val="1E3A8A"/>
                </a:solidFill>
                <a:latin typeface="Microsoft YaHei"/>
                <a:ea typeface="Microsoft YaHei"/>
              </a:rPr>
              <a:t>3. 组件层 Component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374151"/>
                </a:solidFill>
                <a:latin typeface="Microsoft YaHei"/>
                <a:ea typeface="Microsoft YaHei"/>
              </a:rPr>
              <a:t>意图解析、上下文构建、工具适配、证据总结器 (components/*)</a:t>
            </a:r>
          </a:p>
        </p:txBody>
      </p:sp>
      <p:sp>
        <p:nvSpPr>
          <p:cNvPr id="20" name="Rect_20"/>
          <p:cNvSpPr/>
          <p:nvPr/>
        </p:nvSpPr>
        <p:spPr>
          <a:xfrm>
            <a:off x="660400" y="3479800"/>
            <a:ext cx="5156200" cy="558800"/>
          </a:xfrm>
          <a:prstGeom prst="rect">
            <a:avLst/>
          </a:prstGeom>
          <a:solidFill>
            <a:srgbClr val="F7F6F2"/>
          </a:solidFill>
          <a:ln w="12700">
            <a:solidFill>
              <a:srgbClr val="E5E0D8"/>
            </a:solidFill>
          </a:ln>
        </p:spPr>
      </p:sp>
      <p:sp>
        <p:nvSpPr>
          <p:cNvPr id="21" name="Rect_21"/>
          <p:cNvSpPr/>
          <p:nvPr/>
        </p:nvSpPr>
        <p:spPr>
          <a:xfrm>
            <a:off x="660400" y="3479800"/>
            <a:ext cx="508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22" name="TextBox_22"/>
          <p:cNvSpPr txBox="1"/>
          <p:nvPr/>
        </p:nvSpPr>
        <p:spPr>
          <a:xfrm>
            <a:off x="787400" y="35433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300" b="1" dirty="0">
                <a:solidFill>
                  <a:srgbClr val="1E3A8A"/>
                </a:solidFill>
                <a:latin typeface="Microsoft YaHei"/>
                <a:ea typeface="Microsoft YaHei"/>
              </a:rPr>
              <a:t>4. 机制层 Mechanism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374151"/>
                </a:solidFill>
                <a:latin typeface="Microsoft YaHei"/>
                <a:ea typeface="Microsoft YaHei"/>
              </a:rPr>
              <a:t>固定拓扑序执行、重试退避、云端超时本地内存兜底 (mechanisms.js)</a:t>
            </a:r>
          </a:p>
        </p:txBody>
      </p:sp>
      <p:sp>
        <p:nvSpPr>
          <p:cNvPr id="23" name="Rect_23"/>
          <p:cNvSpPr/>
          <p:nvPr/>
        </p:nvSpPr>
        <p:spPr>
          <a:xfrm>
            <a:off x="660400" y="4127500"/>
            <a:ext cx="51562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</p:sp>
      <p:sp>
        <p:nvSpPr>
          <p:cNvPr id="24" name="Rect_24"/>
          <p:cNvSpPr/>
          <p:nvPr/>
        </p:nvSpPr>
        <p:spPr>
          <a:xfrm>
            <a:off x="660400" y="4127500"/>
            <a:ext cx="50800" cy="5588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25" name="TextBox_25"/>
          <p:cNvSpPr txBox="1"/>
          <p:nvPr/>
        </p:nvSpPr>
        <p:spPr>
          <a:xfrm>
            <a:off x="787400" y="41910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300" b="1" dirty="0">
                <a:solidFill>
                  <a:srgbClr val="C2410C"/>
                </a:solidFill>
                <a:latin typeface="Microsoft YaHei"/>
                <a:ea typeface="Microsoft YaHei"/>
              </a:rPr>
              <a:t>5. 安全层 Safety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374151"/>
                </a:solidFill>
                <a:latin typeface="Microsoft YaHei"/>
                <a:ea typeface="Microsoft YaHei"/>
              </a:rPr>
              <a:t>防 Prompt 注入、防越权写操作、禁止编造未返回数值 (safety.js)</a:t>
            </a:r>
          </a:p>
        </p:txBody>
      </p:sp>
      <p:sp>
        <p:nvSpPr>
          <p:cNvPr id="26" name="Rect_26"/>
          <p:cNvSpPr/>
          <p:nvPr/>
        </p:nvSpPr>
        <p:spPr>
          <a:xfrm>
            <a:off x="660400" y="4775200"/>
            <a:ext cx="5156200" cy="558800"/>
          </a:xfrm>
          <a:prstGeom prst="rect">
            <a:avLst/>
          </a:prstGeom>
          <a:solidFill>
            <a:srgbClr val="F7F6F2"/>
          </a:solidFill>
          <a:ln w="12700">
            <a:solidFill>
              <a:srgbClr val="E5E0D8"/>
            </a:solidFill>
          </a:ln>
        </p:spPr>
      </p:sp>
      <p:sp>
        <p:nvSpPr>
          <p:cNvPr id="27" name="Rect_27"/>
          <p:cNvSpPr/>
          <p:nvPr/>
        </p:nvSpPr>
        <p:spPr>
          <a:xfrm>
            <a:off x="660400" y="4775200"/>
            <a:ext cx="508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28" name="TextBox_28"/>
          <p:cNvSpPr txBox="1"/>
          <p:nvPr/>
        </p:nvSpPr>
        <p:spPr>
          <a:xfrm>
            <a:off x="787400" y="48387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300" b="1" dirty="0">
                <a:solidFill>
                  <a:srgbClr val="1E3A8A"/>
                </a:solidFill>
                <a:latin typeface="Microsoft YaHei"/>
                <a:ea typeface="Microsoft YaHei"/>
              </a:rPr>
              <a:t>6. 编排层 Orchestrator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374151"/>
                </a:solidFill>
                <a:latin typeface="Microsoft YaHei"/>
                <a:ea typeface="Microsoft YaHei"/>
              </a:rPr>
              <a:t>LangGraph 状态图流转与主动监控 Loop 唤醒桥接 (orchestrator.js)</a:t>
            </a:r>
          </a:p>
        </p:txBody>
      </p:sp>
      <p:sp>
        <p:nvSpPr>
          <p:cNvPr id="29" name="Rect_29"/>
          <p:cNvSpPr/>
          <p:nvPr/>
        </p:nvSpPr>
        <p:spPr>
          <a:xfrm>
            <a:off x="660400" y="5422900"/>
            <a:ext cx="5156200" cy="558800"/>
          </a:xfrm>
          <a:prstGeom prst="rect">
            <a:avLst/>
          </a:prstGeom>
          <a:solidFill>
            <a:srgbClr val="F7F6F2"/>
          </a:solidFill>
          <a:ln w="12700">
            <a:solidFill>
              <a:srgbClr val="E5E0D8"/>
            </a:solidFill>
          </a:ln>
        </p:spPr>
      </p:sp>
      <p:sp>
        <p:nvSpPr>
          <p:cNvPr id="30" name="Rect_30"/>
          <p:cNvSpPr/>
          <p:nvPr/>
        </p:nvSpPr>
        <p:spPr>
          <a:xfrm>
            <a:off x="660400" y="5422900"/>
            <a:ext cx="50800" cy="55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31" name="TextBox_31"/>
          <p:cNvSpPr txBox="1"/>
          <p:nvPr/>
        </p:nvSpPr>
        <p:spPr>
          <a:xfrm>
            <a:off x="787400" y="5486400"/>
            <a:ext cx="492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300" b="1" dirty="0">
                <a:solidFill>
                  <a:srgbClr val="1E3A8A"/>
                </a:solidFill>
                <a:latin typeface="Microsoft YaHei"/>
                <a:ea typeface="Microsoft YaHei"/>
              </a:rPr>
              <a:t>7. 工程层 Engineering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50" b="0" dirty="0">
                <a:solidFill>
                  <a:srgbClr val="374151"/>
                </a:solidFill>
                <a:latin typeface="Microsoft YaHei"/>
                <a:ea typeface="Microsoft YaHei"/>
              </a:rPr>
              <a:t>REST API 契约网关、幂等键控制、全链路 Trace 落库 (api.js / traceLogger.js)</a:t>
            </a:r>
          </a:p>
        </p:txBody>
      </p:sp>
      <p:sp>
        <p:nvSpPr>
          <p:cNvPr id="32" name="Rect_32"/>
          <p:cNvSpPr/>
          <p:nvPr/>
        </p:nvSpPr>
        <p:spPr>
          <a:xfrm>
            <a:off x="6159500" y="1092200"/>
            <a:ext cx="5524500" cy="3270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33" name="Rect_33"/>
          <p:cNvSpPr/>
          <p:nvPr/>
        </p:nvSpPr>
        <p:spPr>
          <a:xfrm>
            <a:off x="6159500" y="1092200"/>
            <a:ext cx="5524500" cy="444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34" name="TextBox_34"/>
          <p:cNvSpPr txBox="1"/>
          <p:nvPr/>
        </p:nvSpPr>
        <p:spPr>
          <a:xfrm>
            <a:off x="6337300" y="1219200"/>
            <a:ext cx="5168900" cy="285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450" b="1" dirty="0">
                <a:solidFill>
                  <a:srgbClr val="1E3A8A"/>
                </a:solidFill>
                <a:latin typeface="Microsoft YaHei"/>
                <a:ea typeface="Microsoft YaHei"/>
              </a:rPr>
              <a:t>可执行行动卡契约（Action Card Schema · 需人工确认后触发 create_task）</a:t>
            </a:r>
          </a:p>
        </p:txBody>
      </p:sp>
      <p:sp>
        <p:nvSpPr>
          <p:cNvPr id="35" name="Rect_35"/>
          <p:cNvSpPr/>
          <p:nvPr/>
        </p:nvSpPr>
        <p:spPr>
          <a:xfrm>
            <a:off x="6337300" y="1555750"/>
            <a:ext cx="5168900" cy="263525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36" name="TextBox_36"/>
          <p:cNvSpPr txBox="1"/>
          <p:nvPr/>
        </p:nvSpPr>
        <p:spPr>
          <a:xfrm>
            <a:off x="6477000" y="1663700"/>
            <a:ext cx="4889500" cy="2444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00" b="1" dirty="0">
                <a:solidFill>
                  <a:srgbClr val="93C5FD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00" b="0" dirty="0">
                <a:solidFill>
                  <a:srgbClr val="86EFAC"/>
                </a:solidFill>
                <a:latin typeface="Consolas"/>
                <a:ea typeface="Consolas"/>
              </a:rPr>
              <a:t>  "task_id": "task_chaoyang_A_001",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00" b="0" dirty="0">
                <a:solidFill>
                  <a:srgbClr val="FDE047"/>
                </a:solidFill>
                <a:latin typeface="Consolas"/>
                <a:ea typeface="Consolas"/>
              </a:rPr>
              <a:t>  "problem": "朝阳A店退款率(7.0%)显著高于同城中位数(2.1%)，订单跌31%",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00" b="0" dirty="0">
                <a:solidFill>
                  <a:srgbClr val="86EFAC"/>
                </a:solidFill>
                <a:latin typeface="Consolas"/>
                <a:ea typeface="Consolas"/>
              </a:rPr>
              <a:t>  "evidence_ids": ["ev_audit_A_refund", "ev_peer_changchun"],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50" b="1" dirty="0">
                <a:solidFill>
                  <a:srgbClr val="FFFFFF"/>
                </a:solidFill>
                <a:latin typeface="Consolas"/>
                <a:ea typeface="Consolas"/>
              </a:rPr>
              <a:t>  "action": "抽查最近 20 笔退款订单，核查冷链温控与商品临期状态",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00" b="0" dirty="0">
                <a:solidFill>
                  <a:srgbClr val="FBA94C"/>
                </a:solidFill>
                <a:latin typeface="Consolas"/>
                <a:ea typeface="Consolas"/>
              </a:rPr>
              <a:t>  "owner_role": "长春朝阳区域经理",  "due_hours": 24,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00" b="0" dirty="0">
                <a:solidFill>
                  <a:srgbClr val="86EFAC"/>
                </a:solidFill>
                <a:latin typeface="Consolas"/>
                <a:ea typeface="Consolas"/>
              </a:rPr>
              <a:t>  "verify_metric": "refund_rate",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200" b="0" dirty="0">
                <a:solidFill>
                  <a:srgbClr val="86EFAC"/>
                </a:solidFill>
                <a:latin typeface="Consolas"/>
                <a:ea typeface="Consolas"/>
              </a:rPr>
              <a:t>  "verify_target": "下一周期回落至同城中位数 + 2.0%（即 ≤ 4.1%）以内"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93C5FD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37" name="Rect_37"/>
          <p:cNvSpPr/>
          <p:nvPr/>
        </p:nvSpPr>
        <p:spPr>
          <a:xfrm>
            <a:off x="6159500" y="4508500"/>
            <a:ext cx="5524500" cy="172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38" name="Rect_38"/>
          <p:cNvSpPr/>
          <p:nvPr/>
        </p:nvSpPr>
        <p:spPr>
          <a:xfrm>
            <a:off x="6159500" y="4508500"/>
            <a:ext cx="5524500" cy="44450"/>
          </a:xfrm>
          <a:prstGeom prst="rect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39" name="TextBox_39"/>
          <p:cNvSpPr txBox="1"/>
          <p:nvPr/>
        </p:nvSpPr>
        <p:spPr>
          <a:xfrm>
            <a:off x="6337300" y="4635500"/>
            <a:ext cx="5168900" cy="14922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lang="zh-CN" altLang="en-US" sz="1450" b="1" dirty="0">
                <a:solidFill>
                  <a:srgbClr val="15803D"/>
                </a:solidFill>
                <a:latin typeface="Microsoft YaHei"/>
                <a:ea typeface="Microsoft YaHei"/>
              </a:rPr>
              <a:t>任务生命周期与下一周期自动复核（verify_task）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lang="zh-CN" altLang="en-US" sz="1300" b="1" dirty="0">
                <a:solidFill>
                  <a:srgbClr val="111827"/>
                </a:solidFill>
                <a:latin typeface="Microsoft YaHei"/>
                <a:ea typeface="Microsoft YaHei"/>
              </a:rPr>
              <a:t>open (生成草案)  →  assigned (人工确认派单)  →  verifying (读取下周期指标)  →  closed / escalated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50" b="0" dirty="0">
                <a:solidFill>
                  <a:srgbClr val="374151"/>
                </a:solidFill>
                <a:latin typeface="Microsoft YaHei"/>
                <a:ea typeface="Microsoft YaHei"/>
              </a:rPr>
              <a:t>闭环验证逻辑：下一周期自动拉取朝阳 A 店最新 refund_rate，若回落至 ≤ 4.1% 则自动标记 closed 并归档复核证据；若仍超标则自动触发 escalated 升级督办，彻底杜绝“发完报告没人管”。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TextBox_3"/>
          <p:cNvSpPr txBox="1"/>
          <p:nvPr/>
        </p:nvSpPr>
        <p:spPr>
          <a:xfrm>
            <a:off x="508000" y="228600"/>
            <a:ext cx="85725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1050" b="1" dirty="0">
                <a:solidFill>
                  <a:srgbClr val="1E3A8A"/>
                </a:solidFill>
                <a:latin typeface="Microsoft YaHei"/>
                <a:ea typeface="Microsoft YaHei"/>
              </a:rPr>
              <a:t>05 · FUTURE EXPANSION VISION &amp; ROADMAP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111827"/>
                </a:solidFill>
                <a:latin typeface="Microsoft YaHei"/>
                <a:ea typeface="Microsoft YaHei"/>
              </a:rPr>
              <a:t>未来扩展愿景：从“单域智能审计”迈向“全域自治零售大脑”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1200" b="0" dirty="0">
                <a:solidFill>
                  <a:srgbClr val="4B5563"/>
                </a:solidFill>
                <a:latin typeface="Microsoft YaHei"/>
                <a:ea typeface="Microsoft YaHei"/>
              </a:rPr>
              <a:t>架构预留标准化契约与 pgvector 向量检索底座，支持三阶段平滑演进</a:t>
            </a:r>
          </a:p>
        </p:txBody>
      </p:sp>
      <p:sp>
        <p:nvSpPr>
          <p:cNvPr id="4" name="TextBox_4"/>
          <p:cNvSpPr txBox="1"/>
          <p:nvPr/>
        </p:nvSpPr>
        <p:spPr>
          <a:xfrm>
            <a:off x="9652000" y="279400"/>
            <a:ext cx="20320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  <p:txBody>
          <a:bodyPr wrap="square" lIns="50800" tIns="38100" rIns="50800" bIns="38100" anchor="ctr"/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lang="zh-CN" altLang="en-US" sz="1100" b="1" dirty="0">
                <a:solidFill>
                  <a:srgbClr val="C2410C"/>
                </a:solidFill>
                <a:latin typeface="Microsoft YaHei"/>
                <a:ea typeface="Microsoft YaHei"/>
              </a:rPr>
              <a:t>⏱ 路演计时：1:45 - 2:00 (15秒 · P6/6)</a:t>
            </a:r>
          </a:p>
        </p:txBody>
      </p:sp>
      <p:sp>
        <p:nvSpPr>
          <p:cNvPr id="5" name="Rect_5"/>
          <p:cNvSpPr/>
          <p:nvPr/>
        </p:nvSpPr>
        <p:spPr>
          <a:xfrm>
            <a:off x="508000" y="939800"/>
            <a:ext cx="11176000" cy="12700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6" name="Rect_6"/>
          <p:cNvSpPr/>
          <p:nvPr/>
        </p:nvSpPr>
        <p:spPr>
          <a:xfrm>
            <a:off x="508000" y="6426200"/>
            <a:ext cx="11176000" cy="9525"/>
          </a:xfrm>
          <a:prstGeom prst="rect">
            <a:avLst/>
          </a:prstGeom>
          <a:solidFill>
            <a:srgbClr val="E5E0D8"/>
          </a:solidFill>
          <a:ln>
            <a:noFill/>
          </a:ln>
        </p:spPr>
      </p:sp>
      <p:sp>
        <p:nvSpPr>
          <p:cNvPr id="7" name="TextBox_7"/>
          <p:cNvSpPr txBox="1"/>
          <p:nvPr/>
        </p:nvSpPr>
        <p:spPr>
          <a:xfrm>
            <a:off x="508000" y="64770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1" dirty="0">
                <a:solidFill>
                  <a:srgbClr val="4B5563"/>
                </a:solidFill>
                <a:latin typeface="Microsoft YaHei"/>
                <a:ea typeface="Microsoft YaHei"/>
              </a:rPr>
              <a:t>莱森购 Retail Intelligence Agent  |  P6 · 未来扩展愿景</a:t>
            </a:r>
          </a:p>
        </p:txBody>
      </p:sp>
      <p:sp>
        <p:nvSpPr>
          <p:cNvPr id="8" name="TextBox_8"/>
          <p:cNvSpPr txBox="1"/>
          <p:nvPr/>
        </p:nvSpPr>
        <p:spPr>
          <a:xfrm>
            <a:off x="5397500" y="6477000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  <a:spcAft>
                <a:spcPts val="400"/>
              </a:spcAft>
            </a:pPr>
            <a:r>
              <a:rPr lang="zh-CN" altLang="en-US" sz="1050" b="0" dirty="0">
                <a:solidFill>
                  <a:srgbClr val="6B7280"/>
                </a:solidFill>
                <a:latin typeface="Microsoft YaHei"/>
                <a:ea typeface="Microsoft YaHei"/>
              </a:rPr>
              <a:t>2分钟核心路演结束 · 支持现场切换至 Live Demo 演示（朝阳 A 店审计闭环 &amp; 主动监控 Loop）</a:t>
            </a:r>
          </a:p>
        </p:txBody>
      </p:sp>
      <p:sp>
        <p:nvSpPr>
          <p:cNvPr id="9" name="Rect_9"/>
          <p:cNvSpPr/>
          <p:nvPr/>
        </p:nvSpPr>
        <p:spPr>
          <a:xfrm>
            <a:off x="508000" y="1092200"/>
            <a:ext cx="36068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0" name="Rect_10"/>
          <p:cNvSpPr/>
          <p:nvPr/>
        </p:nvSpPr>
        <p:spPr>
          <a:xfrm>
            <a:off x="508000" y="1092200"/>
            <a:ext cx="3606800" cy="508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1" name="TextBox_11"/>
          <p:cNvSpPr txBox="1"/>
          <p:nvPr/>
        </p:nvSpPr>
        <p:spPr>
          <a:xfrm>
            <a:off x="660400" y="1257300"/>
            <a:ext cx="3302000" cy="2952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150" b="1" dirty="0">
                <a:solidFill>
                  <a:srgbClr val="1E3A8A"/>
                </a:solidFill>
                <a:latin typeface="Microsoft YaHei"/>
                <a:ea typeface="Microsoft YaHei"/>
              </a:rPr>
              <a:t>阶段一 · 连接真实世界 (近期)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lang="zh-CN" altLang="en-US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实时数仓与边缘 IoT 网关全面接轨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80" b="0" dirty="0">
                <a:solidFill>
                  <a:srgbClr val="374151"/>
                </a:solidFill>
                <a:latin typeface="Microsoft YaHei"/>
                <a:ea typeface="Microsoft YaHei"/>
              </a:rPr>
              <a:t>• 生产级数据接入：从 CSV/Supabase 种子切片平滑切换至实时 POS 流水、ERP 库存与外部地理/客流 API 适配器。
• 真实 IoT 边缘网关：将主动监控 Loop 接入智能冰柜温控、门磁与电压传感器，实现秒级硬件故障预判。
• 企业级协同触达：打通企业微信、飞书与钉钉卡片审批，店长在手机端一键确认行动卡并上传整改照片。</a:t>
            </a:r>
          </a:p>
        </p:txBody>
      </p:sp>
      <p:sp>
        <p:nvSpPr>
          <p:cNvPr id="12" name="Rect_12"/>
          <p:cNvSpPr/>
          <p:nvPr/>
        </p:nvSpPr>
        <p:spPr>
          <a:xfrm>
            <a:off x="660400" y="4330700"/>
            <a:ext cx="3302000" cy="101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</p:sp>
      <p:sp>
        <p:nvSpPr>
          <p:cNvPr id="13" name="TextBox_13"/>
          <p:cNvSpPr txBox="1"/>
          <p:nvPr/>
        </p:nvSpPr>
        <p:spPr>
          <a:xfrm>
            <a:off x="736600" y="4406900"/>
            <a:ext cx="3149600" cy="863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80" b="1" dirty="0">
                <a:solidFill>
                  <a:srgbClr val="1E3A8A"/>
                </a:solidFill>
                <a:latin typeface="Microsoft YaHei"/>
                <a:ea typeface="Microsoft YaHei"/>
              </a:rPr>
              <a:t>架构优势：当前前后端 API 契约与模块化单体已完全解耦，替换底层数据源零需重写前端与 Agent 编排层。</a:t>
            </a:r>
          </a:p>
        </p:txBody>
      </p:sp>
      <p:sp>
        <p:nvSpPr>
          <p:cNvPr id="14" name="Rect_14"/>
          <p:cNvSpPr/>
          <p:nvPr/>
        </p:nvSpPr>
        <p:spPr>
          <a:xfrm>
            <a:off x="4292600" y="1092200"/>
            <a:ext cx="36068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15" name="Rect_15"/>
          <p:cNvSpPr/>
          <p:nvPr/>
        </p:nvSpPr>
        <p:spPr>
          <a:xfrm>
            <a:off x="4292600" y="1092200"/>
            <a:ext cx="3606800" cy="508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6" name="TextBox_16"/>
          <p:cNvSpPr txBox="1"/>
          <p:nvPr/>
        </p:nvSpPr>
        <p:spPr>
          <a:xfrm>
            <a:off x="4445000" y="1257300"/>
            <a:ext cx="3302000" cy="2952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150" b="1" dirty="0">
                <a:solidFill>
                  <a:srgbClr val="C2410C"/>
                </a:solidFill>
                <a:latin typeface="Microsoft YaHei"/>
                <a:ea typeface="Microsoft YaHei"/>
              </a:rPr>
              <a:t>阶段二 · 多模态与全域扩维 (中期)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lang="zh-CN" altLang="en-US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多模态视觉巡检 + 业财供应链全链路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80" b="0" dirty="0">
                <a:solidFill>
                  <a:srgbClr val="374151"/>
                </a:solidFill>
                <a:latin typeface="Microsoft YaHei"/>
                <a:ea typeface="Microsoft YaHei"/>
              </a:rPr>
              <a:t>• 多模态视觉审计：融合智能柜摄像头图像识别，自动检测【货架缺货率、陈列合规度、异常拿取防损】，生成视觉证据 ID。
• 经营维度扩展：在销售额/退款率基础上，纳入【商品保质期损耗、会员复购率、营销活动归因与补货人效】指标库。
• 跨城多租户治理：引入 RBAC 区域权限隔离、多级审批流与 SLA 考核看板，支撑千店级规模化运营。</a:t>
            </a:r>
          </a:p>
        </p:txBody>
      </p:sp>
      <p:sp>
        <p:nvSpPr>
          <p:cNvPr id="17" name="Rect_17"/>
          <p:cNvSpPr/>
          <p:nvPr/>
        </p:nvSpPr>
        <p:spPr>
          <a:xfrm>
            <a:off x="4445000" y="4330700"/>
            <a:ext cx="3302000" cy="1016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</p:sp>
      <p:sp>
        <p:nvSpPr>
          <p:cNvPr id="18" name="TextBox_18"/>
          <p:cNvSpPr txBox="1"/>
          <p:nvPr/>
        </p:nvSpPr>
        <p:spPr>
          <a:xfrm>
            <a:off x="4521200" y="4406900"/>
            <a:ext cx="3149600" cy="863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80" b="1" dirty="0">
                <a:solidFill>
                  <a:srgbClr val="C2410C"/>
                </a:solidFill>
                <a:latin typeface="Microsoft YaHei"/>
                <a:ea typeface="Microsoft YaHei"/>
              </a:rPr>
              <a:t>演进原则：视觉与预测模型同样遵循“只输出带置信度的结构化证据，由确定性规则定级”的安全边界。</a:t>
            </a:r>
          </a:p>
        </p:txBody>
      </p:sp>
      <p:sp>
        <p:nvSpPr>
          <p:cNvPr id="19" name="Rect_19"/>
          <p:cNvSpPr/>
          <p:nvPr/>
        </p:nvSpPr>
        <p:spPr>
          <a:xfrm>
            <a:off x="8077200" y="1092200"/>
            <a:ext cx="36068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</a:ln>
        </p:spPr>
      </p:sp>
      <p:sp>
        <p:nvSpPr>
          <p:cNvPr id="20" name="Rect_20"/>
          <p:cNvSpPr/>
          <p:nvPr/>
        </p:nvSpPr>
        <p:spPr>
          <a:xfrm>
            <a:off x="8077200" y="1092200"/>
            <a:ext cx="360680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21" name="TextBox_21"/>
          <p:cNvSpPr txBox="1"/>
          <p:nvPr/>
        </p:nvSpPr>
        <p:spPr>
          <a:xfrm>
            <a:off x="8229600" y="1257300"/>
            <a:ext cx="3302000" cy="295275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150" b="1" dirty="0">
                <a:solidFill>
                  <a:srgbClr val="15803D"/>
                </a:solidFill>
                <a:latin typeface="Microsoft YaHei"/>
                <a:ea typeface="Microsoft YaHei"/>
              </a:rPr>
              <a:t>阶段三 · 自演进决策飞轮 (远期)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lang="zh-CN" altLang="en-US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基于复核结果反哺的自治零售大脑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280" b="0" dirty="0">
                <a:solidFill>
                  <a:srgbClr val="374151"/>
                </a:solidFill>
                <a:latin typeface="Microsoft YaHei"/>
                <a:ea typeface="Microsoft YaHei"/>
              </a:rPr>
              <a:t>• 历史案件向量检索（pgvector）：将每一次结案的异常特征、处置动作与复核改善幅度存入向量库，新发异常自动匹配历史最优 SOP。
• 策略权重动态校准：根据历史任务复核通过率（Closed vs Escalated），自动评估哪些行动建议真正有效，反哺风险排序模型。
• 受控多 Agent 协同：在契约稳定后，由审计 Agent、选址 Agent 与供应链补货 Agent 协同推演全局利润最大化方案。</a:t>
            </a:r>
          </a:p>
        </p:txBody>
      </p:sp>
      <p:sp>
        <p:nvSpPr>
          <p:cNvPr id="22" name="Rect_22"/>
          <p:cNvSpPr/>
          <p:nvPr/>
        </p:nvSpPr>
        <p:spPr>
          <a:xfrm>
            <a:off x="8229600" y="4330700"/>
            <a:ext cx="3302000" cy="1016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</p:sp>
      <p:sp>
        <p:nvSpPr>
          <p:cNvPr id="23" name="TextBox_23"/>
          <p:cNvSpPr txBox="1"/>
          <p:nvPr/>
        </p:nvSpPr>
        <p:spPr>
          <a:xfrm>
            <a:off x="8305800" y="4406900"/>
            <a:ext cx="3149600" cy="863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180" b="1" dirty="0">
                <a:solidFill>
                  <a:srgbClr val="15803D"/>
                </a:solidFill>
                <a:latin typeface="Microsoft YaHei"/>
                <a:ea typeface="Microsoft YaHei"/>
              </a:rPr>
              <a:t>终极愿景：让每一家无人零售小店都拥有一位“算得准、守规矩、盯得住结果”的 AI 首席运营官。</a:t>
            </a:r>
          </a:p>
        </p:txBody>
      </p:sp>
      <p:sp>
        <p:nvSpPr>
          <p:cNvPr id="24" name="Rect_24"/>
          <p:cNvSpPr/>
          <p:nvPr/>
        </p:nvSpPr>
        <p:spPr>
          <a:xfrm>
            <a:off x="508000" y="5683250"/>
            <a:ext cx="11176000" cy="60325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25" name="TextBox_25"/>
          <p:cNvSpPr txBox="1"/>
          <p:nvPr/>
        </p:nvSpPr>
        <p:spPr>
          <a:xfrm>
            <a:off x="666750" y="5791200"/>
            <a:ext cx="108585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38100" rIns="50800" bIns="38100" anchor="ctr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CN" altLang="en-US" sz="1350" b="1" dirty="0">
                <a:solidFill>
                  <a:srgbClr val="FFFFFF"/>
                </a:solidFill>
                <a:latin typeface="Microsoft YaHei"/>
                <a:ea typeface="Microsoft YaHei"/>
              </a:rPr>
              <a:t>🎯 总结：莱森购不是又一个“会聊天的报表插件”，而是用【确定性工程契约】驯服大模型、打通【感知→归因→行动→复核】的新一代智能经营范式。   |   THANK YOU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isenTheme">
  <a:themeElements>
    <a:clrScheme name="LaisenColors">
      <a:dk1>
        <a:srgbClr val="111827"/>
      </a:dk1>
      <a:lt1>
        <a:srgbClr val="FFFFFF"/>
      </a:lt1>
      <a:dk2>
        <a:srgbClr val="0F172A"/>
      </a:dk2>
      <a:lt2>
        <a:srgbClr val="F7F6F2"/>
      </a:lt2>
      <a:accent1>
        <a:srgbClr val="1E3A8A"/>
      </a:accent1>
      <a:accent2>
        <a:srgbClr val="C2410C"/>
      </a:accent2>
      <a:accent3>
        <a:srgbClr val="15803D"/>
      </a:accent3>
      <a:accent4>
        <a:srgbClr val="B45309"/>
      </a:accent4>
      <a:accent5>
        <a:srgbClr val="2563EB"/>
      </a:accent5>
      <a:accent6>
        <a:srgbClr val="4B5563"/>
      </a:accent6>
      <a:hlink>
        <a:srgbClr val="2563EB"/>
      </a:hlink>
      <a:folHlink>
        <a:srgbClr val="1E3A8A"/>
      </a:folHlink>
    </a:clrScheme>
    <a:fontScheme name="Laisen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Laisen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